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8288000" cy="10287000"/>
  <p:notesSz cx="6858000" cy="9144000"/>
  <p:embeddedFontLst>
    <p:embeddedFont>
      <p:font typeface="Arial Nova" panose="020B0504020202020204" pitchFamily="34" charset="0"/>
      <p:regular r:id="rId24"/>
      <p:bold r:id="rId25"/>
    </p:embeddedFont>
    <p:embeddedFont>
      <p:font typeface="Arial Nova Bold" panose="020B0804020202020204" charset="0"/>
      <p:regular r:id="rId26"/>
    </p:embeddedFont>
    <p:embeddedFont>
      <p:font typeface="Arial Nova Bold Italics" panose="020B0604020202020204" charset="0"/>
      <p:regular r:id="rId27"/>
    </p:embeddedFont>
    <p:embeddedFont>
      <p:font typeface="Poppins Bold"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3" d="100"/>
          <a:sy n="73" d="100"/>
        </p:scale>
        <p:origin x="594"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sp>
        <p:nvSpPr>
          <p:cNvPr id="8" name="Freeform 8"/>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sp>
        <p:nvSpPr>
          <p:cNvPr id="9" name="TextBox 9"/>
          <p:cNvSpPr txBox="1"/>
          <p:nvPr/>
        </p:nvSpPr>
        <p:spPr>
          <a:xfrm>
            <a:off x="-17070" y="87313"/>
            <a:ext cx="18288000" cy="1698626"/>
          </a:xfrm>
          <a:prstGeom prst="rect">
            <a:avLst/>
          </a:prstGeom>
        </p:spPr>
        <p:txBody>
          <a:bodyPr lIns="0" tIns="0" rIns="0" bIns="0" rtlCol="0" anchor="t">
            <a:spAutoFit/>
          </a:bodyPr>
          <a:lstStyle/>
          <a:p>
            <a:pPr algn="ctr">
              <a:lnSpc>
                <a:spcPts val="13999"/>
              </a:lnSpc>
            </a:pPr>
            <a:r>
              <a:rPr lang="en-US" sz="9999" b="1" dirty="0">
                <a:solidFill>
                  <a:srgbClr val="D5EFEF"/>
                </a:solidFill>
                <a:latin typeface="Arial Nova Bold"/>
                <a:ea typeface="Arial Nova Bold"/>
                <a:cs typeface="Arial Nova Bold"/>
                <a:sym typeface="Arial Nova Bold"/>
              </a:rPr>
              <a:t>Hotel Revenue Management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sp>
        <p:nvSpPr>
          <p:cNvPr id="8" name="AutoShape 8"/>
          <p:cNvSpPr/>
          <p:nvPr/>
        </p:nvSpPr>
        <p:spPr>
          <a:xfrm>
            <a:off x="4195033" y="1783787"/>
            <a:ext cx="9897933" cy="0"/>
          </a:xfrm>
          <a:prstGeom prst="line">
            <a:avLst/>
          </a:prstGeom>
          <a:ln w="38100" cap="flat">
            <a:solidFill>
              <a:srgbClr val="FFFFFF"/>
            </a:solidFill>
            <a:prstDash val="solid"/>
            <a:headEnd type="diamond" w="lg" len="lg"/>
            <a:tailEnd type="diamond" w="lg" len="lg"/>
          </a:ln>
        </p:spPr>
        <p:txBody>
          <a:bodyPr/>
          <a:lstStyle/>
          <a:p>
            <a:endParaRPr lang="en-IN"/>
          </a:p>
        </p:txBody>
      </p:sp>
      <p:sp>
        <p:nvSpPr>
          <p:cNvPr id="9" name="AutoShape 9"/>
          <p:cNvSpPr/>
          <p:nvPr/>
        </p:nvSpPr>
        <p:spPr>
          <a:xfrm>
            <a:off x="4195033" y="8507730"/>
            <a:ext cx="9897933" cy="0"/>
          </a:xfrm>
          <a:prstGeom prst="line">
            <a:avLst/>
          </a:prstGeom>
          <a:ln w="38100" cap="flat">
            <a:solidFill>
              <a:srgbClr val="FFFFFF"/>
            </a:solidFill>
            <a:prstDash val="solid"/>
            <a:headEnd type="diamond" w="lg" len="lg"/>
            <a:tailEnd type="diamond" w="lg" len="lg"/>
          </a:ln>
        </p:spPr>
        <p:txBody>
          <a:bodyPr/>
          <a:lstStyle/>
          <a:p>
            <a:endParaRPr lang="en-IN"/>
          </a:p>
        </p:txBody>
      </p:sp>
      <p:grpSp>
        <p:nvGrpSpPr>
          <p:cNvPr id="10" name="Group 10"/>
          <p:cNvGrpSpPr/>
          <p:nvPr/>
        </p:nvGrpSpPr>
        <p:grpSpPr>
          <a:xfrm>
            <a:off x="1028700" y="2203508"/>
            <a:ext cx="16230600" cy="5818022"/>
            <a:chOff x="0" y="0"/>
            <a:chExt cx="4274726" cy="1532319"/>
          </a:xfrm>
        </p:grpSpPr>
        <p:sp>
          <p:nvSpPr>
            <p:cNvPr id="11" name="Freeform 11"/>
            <p:cNvSpPr/>
            <p:nvPr/>
          </p:nvSpPr>
          <p:spPr>
            <a:xfrm>
              <a:off x="0" y="0"/>
              <a:ext cx="4274726" cy="1532319"/>
            </a:xfrm>
            <a:custGeom>
              <a:avLst/>
              <a:gdLst/>
              <a:ahLst/>
              <a:cxnLst/>
              <a:rect l="l" t="t" r="r" b="b"/>
              <a:pathLst>
                <a:path w="4274726" h="1532319">
                  <a:moveTo>
                    <a:pt x="0" y="0"/>
                  </a:moveTo>
                  <a:lnTo>
                    <a:pt x="4274726" y="0"/>
                  </a:lnTo>
                  <a:lnTo>
                    <a:pt x="4274726" y="1532319"/>
                  </a:lnTo>
                  <a:lnTo>
                    <a:pt x="0" y="1532319"/>
                  </a:lnTo>
                  <a:close/>
                </a:path>
              </a:pathLst>
            </a:custGeom>
            <a:solidFill>
              <a:srgbClr val="036493"/>
            </a:solidFill>
          </p:spPr>
          <p:txBody>
            <a:bodyPr/>
            <a:lstStyle/>
            <a:p>
              <a:endParaRPr lang="en-IN"/>
            </a:p>
          </p:txBody>
        </p:sp>
        <p:sp>
          <p:nvSpPr>
            <p:cNvPr id="12" name="TextBox 12"/>
            <p:cNvSpPr txBox="1"/>
            <p:nvPr/>
          </p:nvSpPr>
          <p:spPr>
            <a:xfrm>
              <a:off x="0" y="-66675"/>
              <a:ext cx="4274726" cy="1598994"/>
            </a:xfrm>
            <a:prstGeom prst="rect">
              <a:avLst/>
            </a:prstGeom>
          </p:spPr>
          <p:txBody>
            <a:bodyPr lIns="50800" tIns="50800" rIns="50800" bIns="50800" rtlCol="0" anchor="ctr"/>
            <a:lstStyle/>
            <a:p>
              <a:pPr algn="ctr">
                <a:lnSpc>
                  <a:spcPts val="3494"/>
                </a:lnSpc>
              </a:pPr>
              <a:endParaRPr/>
            </a:p>
          </p:txBody>
        </p:sp>
      </p:grpSp>
      <p:sp>
        <p:nvSpPr>
          <p:cNvPr id="13" name="TextBox 13"/>
          <p:cNvSpPr txBox="1"/>
          <p:nvPr/>
        </p:nvSpPr>
        <p:spPr>
          <a:xfrm>
            <a:off x="1374203" y="2569845"/>
            <a:ext cx="15539594" cy="5080635"/>
          </a:xfrm>
          <a:prstGeom prst="rect">
            <a:avLst/>
          </a:prstGeom>
        </p:spPr>
        <p:txBody>
          <a:bodyPr lIns="0" tIns="0" rIns="0" bIns="0" rtlCol="0" anchor="t">
            <a:spAutoFit/>
          </a:bodyPr>
          <a:lstStyle/>
          <a:p>
            <a:pPr algn="just">
              <a:lnSpc>
                <a:spcPts val="5040"/>
              </a:lnSpc>
              <a:spcBef>
                <a:spcPct val="0"/>
              </a:spcBef>
            </a:pPr>
            <a:r>
              <a:rPr lang="en-US" sz="3600" dirty="0">
                <a:solidFill>
                  <a:srgbClr val="FFFEFE"/>
                </a:solidFill>
                <a:latin typeface="Arial Nova"/>
                <a:ea typeface="Arial Nova"/>
                <a:cs typeface="Arial Nova"/>
                <a:sym typeface="Arial Nova"/>
              </a:rPr>
              <a:t>This project develops a Hotel Revenue Management System to analyze booking, customer, and room data for improving occupancy and revenue performance. A star schema data model is used to calculate key metrics such as Occupancy Rate, ADR, and RevPAR across time and booking channels. Guest behavior, cancellation trends, and future occupancy are analyzed to support demand forecasting. The final interactive dashboard provides actionable insights on pricing, upselling, and revenue optimization for hotel management.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grpSp>
        <p:nvGrpSpPr>
          <p:cNvPr id="8" name="Group 8"/>
          <p:cNvGrpSpPr/>
          <p:nvPr/>
        </p:nvGrpSpPr>
        <p:grpSpPr>
          <a:xfrm>
            <a:off x="1028700" y="1757058"/>
            <a:ext cx="16421100" cy="7668300"/>
            <a:chOff x="0" y="0"/>
            <a:chExt cx="4274726" cy="1930752"/>
          </a:xfrm>
        </p:grpSpPr>
        <p:sp>
          <p:nvSpPr>
            <p:cNvPr id="9" name="Freeform 9"/>
            <p:cNvSpPr/>
            <p:nvPr/>
          </p:nvSpPr>
          <p:spPr>
            <a:xfrm>
              <a:off x="0" y="0"/>
              <a:ext cx="4274726" cy="1930752"/>
            </a:xfrm>
            <a:custGeom>
              <a:avLst/>
              <a:gdLst/>
              <a:ahLst/>
              <a:cxnLst/>
              <a:rect l="l" t="t" r="r" b="b"/>
              <a:pathLst>
                <a:path w="4274726" h="1930752">
                  <a:moveTo>
                    <a:pt x="0" y="0"/>
                  </a:moveTo>
                  <a:lnTo>
                    <a:pt x="4274726" y="0"/>
                  </a:lnTo>
                  <a:lnTo>
                    <a:pt x="4274726" y="1930752"/>
                  </a:lnTo>
                  <a:lnTo>
                    <a:pt x="0" y="1930752"/>
                  </a:lnTo>
                  <a:close/>
                </a:path>
              </a:pathLst>
            </a:custGeom>
            <a:solidFill>
              <a:srgbClr val="036493"/>
            </a:solidFill>
          </p:spPr>
          <p:txBody>
            <a:bodyPr/>
            <a:lstStyle/>
            <a:p>
              <a:endParaRPr lang="en-IN"/>
            </a:p>
          </p:txBody>
        </p:sp>
        <p:sp>
          <p:nvSpPr>
            <p:cNvPr id="10" name="TextBox 10"/>
            <p:cNvSpPr txBox="1"/>
            <p:nvPr/>
          </p:nvSpPr>
          <p:spPr>
            <a:xfrm>
              <a:off x="0" y="-66675"/>
              <a:ext cx="4274726" cy="1997427"/>
            </a:xfrm>
            <a:prstGeom prst="rect">
              <a:avLst/>
            </a:prstGeom>
          </p:spPr>
          <p:txBody>
            <a:bodyPr lIns="50800" tIns="50800" rIns="50800" bIns="50800" rtlCol="0" anchor="ctr"/>
            <a:lstStyle/>
            <a:p>
              <a:pPr algn="l">
                <a:lnSpc>
                  <a:spcPts val="3494"/>
                </a:lnSpc>
              </a:pPr>
              <a:endParaRPr/>
            </a:p>
          </p:txBody>
        </p:sp>
      </p:grpSp>
      <p:sp>
        <p:nvSpPr>
          <p:cNvPr id="11" name="TextBox 11"/>
          <p:cNvSpPr txBox="1"/>
          <p:nvPr/>
        </p:nvSpPr>
        <p:spPr>
          <a:xfrm>
            <a:off x="1218645" y="1841329"/>
            <a:ext cx="15816570" cy="7456593"/>
          </a:xfrm>
          <a:prstGeom prst="rect">
            <a:avLst/>
          </a:prstGeom>
        </p:spPr>
        <p:txBody>
          <a:bodyPr wrap="square" lIns="0" tIns="0" rIns="0" bIns="0" rtlCol="0" anchor="t">
            <a:spAutoFit/>
          </a:bodyPr>
          <a:lstStyle/>
          <a:p>
            <a:pPr algn="l">
              <a:lnSpc>
                <a:spcPts val="3850"/>
              </a:lnSpc>
              <a:spcBef>
                <a:spcPct val="0"/>
              </a:spcBef>
            </a:pPr>
            <a:r>
              <a:rPr lang="en-US" sz="2750" b="1" dirty="0">
                <a:solidFill>
                  <a:srgbClr val="FF914D"/>
                </a:solidFill>
                <a:latin typeface="Arial Nova Bold"/>
                <a:ea typeface="Arial Nova Bold"/>
                <a:cs typeface="Arial Nova Bold"/>
                <a:sym typeface="Arial Nova Bold"/>
              </a:rPr>
              <a:t>Module Overview</a:t>
            </a:r>
          </a:p>
          <a:p>
            <a:pPr marL="593726" lvl="1" indent="-296863" algn="l">
              <a:lnSpc>
                <a:spcPts val="3850"/>
              </a:lnSpc>
              <a:spcBef>
                <a:spcPct val="0"/>
              </a:spcBef>
              <a:buFont typeface="Arial"/>
              <a:buChar char="•"/>
            </a:pPr>
            <a:r>
              <a:rPr lang="en-US" sz="2750" dirty="0">
                <a:solidFill>
                  <a:srgbClr val="FFFFFF"/>
                </a:solidFill>
                <a:latin typeface="Arial Nova"/>
                <a:ea typeface="Arial Nova"/>
                <a:cs typeface="Arial Nova"/>
                <a:sym typeface="Arial Nova"/>
              </a:rPr>
              <a:t>This module establishes the data foundation of the HotelRevAI system.</a:t>
            </a:r>
          </a:p>
          <a:p>
            <a:pPr marL="593726" lvl="1" indent="-296863" algn="l">
              <a:lnSpc>
                <a:spcPts val="3850"/>
              </a:lnSpc>
              <a:spcBef>
                <a:spcPct val="0"/>
              </a:spcBef>
              <a:buFont typeface="Arial"/>
              <a:buChar char="•"/>
            </a:pPr>
            <a:r>
              <a:rPr lang="en-US" sz="2750" dirty="0">
                <a:solidFill>
                  <a:srgbClr val="FFFFFF"/>
                </a:solidFill>
                <a:latin typeface="Arial Nova"/>
                <a:ea typeface="Arial Nova"/>
                <a:cs typeface="Arial Nova"/>
                <a:sym typeface="Arial Nova"/>
              </a:rPr>
              <a:t>Raw booking, customer, room, and hotel branch data are ingested, cleaned, and standardized.</a:t>
            </a:r>
          </a:p>
          <a:p>
            <a:pPr algn="l">
              <a:lnSpc>
                <a:spcPts val="3850"/>
              </a:lnSpc>
              <a:spcBef>
                <a:spcPct val="0"/>
              </a:spcBef>
            </a:pPr>
            <a:endParaRPr lang="en-US" sz="2750" dirty="0">
              <a:solidFill>
                <a:srgbClr val="FFFFFF"/>
              </a:solidFill>
              <a:latin typeface="Arial Nova"/>
              <a:ea typeface="Arial Nova"/>
              <a:cs typeface="Arial Nova"/>
              <a:sym typeface="Arial Nova"/>
            </a:endParaRPr>
          </a:p>
          <a:p>
            <a:pPr algn="l">
              <a:lnSpc>
                <a:spcPts val="3850"/>
              </a:lnSpc>
              <a:spcBef>
                <a:spcPct val="0"/>
              </a:spcBef>
            </a:pPr>
            <a:r>
              <a:rPr lang="en-US" sz="2750" b="1" dirty="0">
                <a:solidFill>
                  <a:srgbClr val="FF914D"/>
                </a:solidFill>
                <a:latin typeface="Arial Nova Bold"/>
                <a:ea typeface="Arial Nova Bold"/>
                <a:cs typeface="Arial Nova Bold"/>
                <a:sym typeface="Arial Nova Bold"/>
              </a:rPr>
              <a:t>Data Architecture</a:t>
            </a:r>
          </a:p>
          <a:p>
            <a:pPr marL="593726" lvl="1" indent="-296863" algn="l">
              <a:lnSpc>
                <a:spcPts val="3850"/>
              </a:lnSpc>
              <a:spcBef>
                <a:spcPct val="0"/>
              </a:spcBef>
              <a:buFont typeface="Arial"/>
              <a:buChar char="•"/>
            </a:pPr>
            <a:r>
              <a:rPr lang="en-US" sz="2750" dirty="0">
                <a:solidFill>
                  <a:srgbClr val="FFFFFF"/>
                </a:solidFill>
                <a:latin typeface="Arial Nova"/>
                <a:ea typeface="Arial Nova"/>
                <a:cs typeface="Arial Nova"/>
                <a:sym typeface="Arial Nova"/>
              </a:rPr>
              <a:t>A star schema is designed with </a:t>
            </a:r>
            <a:r>
              <a:rPr lang="en-US" sz="2750" dirty="0" err="1">
                <a:solidFill>
                  <a:srgbClr val="FFFFFF"/>
                </a:solidFill>
                <a:latin typeface="Arial Nova"/>
                <a:ea typeface="Arial Nova"/>
                <a:cs typeface="Arial Nova"/>
                <a:sym typeface="Arial Nova"/>
              </a:rPr>
              <a:t>FactBookings</a:t>
            </a:r>
            <a:r>
              <a:rPr lang="en-US" sz="2750" dirty="0">
                <a:solidFill>
                  <a:srgbClr val="FFFFFF"/>
                </a:solidFill>
                <a:latin typeface="Arial Nova"/>
                <a:ea typeface="Arial Nova"/>
                <a:cs typeface="Arial Nova"/>
                <a:sym typeface="Arial Nova"/>
              </a:rPr>
              <a:t> at the center.</a:t>
            </a:r>
          </a:p>
          <a:p>
            <a:pPr marL="593726" lvl="1" indent="-296863" algn="l">
              <a:lnSpc>
                <a:spcPts val="3850"/>
              </a:lnSpc>
              <a:spcBef>
                <a:spcPct val="0"/>
              </a:spcBef>
              <a:buFont typeface="Arial"/>
              <a:buChar char="•"/>
            </a:pPr>
            <a:r>
              <a:rPr lang="en-US" sz="2750" dirty="0">
                <a:solidFill>
                  <a:srgbClr val="FFFFFF"/>
                </a:solidFill>
                <a:latin typeface="Arial Nova"/>
                <a:ea typeface="Arial Nova"/>
                <a:cs typeface="Arial Nova"/>
                <a:sym typeface="Arial Nova"/>
              </a:rPr>
              <a:t>Connected dimensions include Date, Room, Customer, and Hotel Branch for scalable analysis.</a:t>
            </a:r>
          </a:p>
          <a:p>
            <a:pPr algn="l">
              <a:lnSpc>
                <a:spcPts val="3850"/>
              </a:lnSpc>
              <a:spcBef>
                <a:spcPct val="0"/>
              </a:spcBef>
            </a:pPr>
            <a:endParaRPr lang="en-US" sz="2750" dirty="0">
              <a:solidFill>
                <a:srgbClr val="FFFFFF"/>
              </a:solidFill>
              <a:latin typeface="Arial Nova"/>
              <a:ea typeface="Arial Nova"/>
              <a:cs typeface="Arial Nova"/>
              <a:sym typeface="Arial Nova"/>
            </a:endParaRPr>
          </a:p>
          <a:p>
            <a:pPr algn="l">
              <a:lnSpc>
                <a:spcPts val="3850"/>
              </a:lnSpc>
              <a:spcBef>
                <a:spcPct val="0"/>
              </a:spcBef>
            </a:pPr>
            <a:r>
              <a:rPr lang="en-US" sz="2750" b="1" dirty="0">
                <a:solidFill>
                  <a:srgbClr val="FF914D"/>
                </a:solidFill>
                <a:latin typeface="Arial Nova Bold"/>
                <a:ea typeface="Arial Nova Bold"/>
                <a:cs typeface="Arial Nova Bold"/>
                <a:sym typeface="Arial Nova Bold"/>
              </a:rPr>
              <a:t>Data Enrichment</a:t>
            </a:r>
          </a:p>
          <a:p>
            <a:pPr marL="593726" lvl="1" indent="-296863" algn="l">
              <a:lnSpc>
                <a:spcPts val="3850"/>
              </a:lnSpc>
              <a:spcBef>
                <a:spcPct val="0"/>
              </a:spcBef>
              <a:buFont typeface="Arial"/>
              <a:buChar char="•"/>
            </a:pPr>
            <a:r>
              <a:rPr lang="en-US" sz="2750" dirty="0">
                <a:solidFill>
                  <a:srgbClr val="FFFFFF"/>
                </a:solidFill>
                <a:latin typeface="Arial Nova"/>
                <a:ea typeface="Arial Nova"/>
                <a:cs typeface="Arial Nova"/>
                <a:sym typeface="Arial Nova"/>
              </a:rPr>
              <a:t>Key derived fields such as booking duration, room category, and stay type are calculated.</a:t>
            </a:r>
          </a:p>
          <a:p>
            <a:pPr marL="593726" lvl="1" indent="-296863" algn="l">
              <a:lnSpc>
                <a:spcPts val="3850"/>
              </a:lnSpc>
              <a:spcBef>
                <a:spcPct val="0"/>
              </a:spcBef>
              <a:buFont typeface="Arial"/>
              <a:buChar char="•"/>
            </a:pPr>
            <a:r>
              <a:rPr lang="en-US" sz="2750" dirty="0">
                <a:solidFill>
                  <a:srgbClr val="FFFFFF"/>
                </a:solidFill>
                <a:latin typeface="Arial Nova"/>
                <a:ea typeface="Arial Nova"/>
                <a:cs typeface="Arial Nova"/>
                <a:sym typeface="Arial Nova"/>
              </a:rPr>
              <a:t>These enrich the dataset and enable accurate downstream analytics.</a:t>
            </a:r>
          </a:p>
          <a:p>
            <a:pPr algn="l">
              <a:lnSpc>
                <a:spcPts val="3850"/>
              </a:lnSpc>
              <a:spcBef>
                <a:spcPct val="0"/>
              </a:spcBef>
            </a:pPr>
            <a:endParaRPr lang="en-US" sz="2750" dirty="0">
              <a:solidFill>
                <a:srgbClr val="FFFFFF"/>
              </a:solidFill>
              <a:latin typeface="Arial Nova"/>
              <a:ea typeface="Arial Nova"/>
              <a:cs typeface="Arial Nova"/>
              <a:sym typeface="Arial Nova"/>
            </a:endParaRPr>
          </a:p>
          <a:p>
            <a:pPr algn="l">
              <a:lnSpc>
                <a:spcPts val="3850"/>
              </a:lnSpc>
              <a:spcBef>
                <a:spcPct val="0"/>
              </a:spcBef>
            </a:pPr>
            <a:r>
              <a:rPr lang="en-US" sz="2750" b="1" dirty="0">
                <a:solidFill>
                  <a:srgbClr val="FF914D"/>
                </a:solidFill>
                <a:latin typeface="Arial Nova Bold"/>
                <a:ea typeface="Arial Nova Bold"/>
                <a:cs typeface="Arial Nova Bold"/>
                <a:sym typeface="Arial Nova Bold"/>
              </a:rPr>
              <a:t>Business Impact</a:t>
            </a:r>
          </a:p>
          <a:p>
            <a:pPr marL="593726" lvl="1" indent="-296863" algn="l">
              <a:lnSpc>
                <a:spcPts val="3850"/>
              </a:lnSpc>
              <a:spcBef>
                <a:spcPct val="0"/>
              </a:spcBef>
              <a:buFont typeface="Arial"/>
              <a:buChar char="•"/>
            </a:pPr>
            <a:r>
              <a:rPr lang="en-US" sz="2750" dirty="0">
                <a:solidFill>
                  <a:srgbClr val="FFFFFF"/>
                </a:solidFill>
                <a:latin typeface="Arial Nova"/>
                <a:ea typeface="Arial Nova"/>
                <a:cs typeface="Arial Nova"/>
                <a:sym typeface="Arial Nova"/>
              </a:rPr>
              <a:t>Ensures data accuracy, consistency, and performance.</a:t>
            </a:r>
          </a:p>
          <a:p>
            <a:pPr marL="593726" lvl="1" indent="-296863" algn="l">
              <a:lnSpc>
                <a:spcPts val="3850"/>
              </a:lnSpc>
              <a:spcBef>
                <a:spcPct val="0"/>
              </a:spcBef>
              <a:buFont typeface="Arial"/>
              <a:buChar char="•"/>
            </a:pPr>
            <a:r>
              <a:rPr lang="en-US" sz="2750" dirty="0">
                <a:solidFill>
                  <a:srgbClr val="FFFFFF"/>
                </a:solidFill>
                <a:latin typeface="Arial Nova"/>
                <a:ea typeface="Arial Nova"/>
                <a:cs typeface="Arial Nova"/>
                <a:sym typeface="Arial Nova"/>
              </a:rPr>
              <a:t>Provides a reliable base for occupancy, revenue, forecasting, and strategy dashboards.</a:t>
            </a:r>
          </a:p>
        </p:txBody>
      </p:sp>
      <p:sp>
        <p:nvSpPr>
          <p:cNvPr id="12" name="TextBox 12"/>
          <p:cNvSpPr txBox="1"/>
          <p:nvPr/>
        </p:nvSpPr>
        <p:spPr>
          <a:xfrm>
            <a:off x="1028700" y="508000"/>
            <a:ext cx="16230600" cy="899798"/>
          </a:xfrm>
          <a:prstGeom prst="rect">
            <a:avLst/>
          </a:prstGeom>
        </p:spPr>
        <p:txBody>
          <a:bodyPr wrap="square" lIns="0" tIns="0" rIns="0" bIns="0" rtlCol="0" anchor="t">
            <a:spAutoFit/>
          </a:bodyPr>
          <a:lstStyle/>
          <a:p>
            <a:pPr algn="ctr">
              <a:lnSpc>
                <a:spcPts val="7699"/>
              </a:lnSpc>
              <a:spcBef>
                <a:spcPct val="0"/>
              </a:spcBef>
            </a:pPr>
            <a:r>
              <a:rPr lang="en-US" sz="5499" b="1" dirty="0">
                <a:solidFill>
                  <a:srgbClr val="FFFFFF"/>
                </a:solidFill>
                <a:latin typeface="Arial Nova Bold"/>
                <a:ea typeface="Arial Nova Bold"/>
                <a:cs typeface="Arial Nova Bold"/>
                <a:sym typeface="Arial Nova Bold"/>
              </a:rPr>
              <a:t>MODULE 1 - DATA MODELING AND INGESTION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sp>
        <p:nvSpPr>
          <p:cNvPr id="8" name="Freeform 8"/>
          <p:cNvSpPr/>
          <p:nvPr/>
        </p:nvSpPr>
        <p:spPr>
          <a:xfrm>
            <a:off x="835603" y="1562928"/>
            <a:ext cx="8738226" cy="7706630"/>
          </a:xfrm>
          <a:custGeom>
            <a:avLst/>
            <a:gdLst/>
            <a:ahLst/>
            <a:cxnLst/>
            <a:rect l="l" t="t" r="r" b="b"/>
            <a:pathLst>
              <a:path w="8738226" h="7706630">
                <a:moveTo>
                  <a:pt x="0" y="0"/>
                </a:moveTo>
                <a:lnTo>
                  <a:pt x="8738226" y="0"/>
                </a:lnTo>
                <a:lnTo>
                  <a:pt x="8738226" y="7706630"/>
                </a:lnTo>
                <a:lnTo>
                  <a:pt x="0" y="7706630"/>
                </a:lnTo>
                <a:lnTo>
                  <a:pt x="0" y="0"/>
                </a:lnTo>
                <a:close/>
              </a:path>
            </a:pathLst>
          </a:custGeom>
          <a:blipFill>
            <a:blip r:embed="rId2"/>
            <a:stretch>
              <a:fillRect l="-7430" t="-30088" r="-4065" b="-15431"/>
            </a:stretch>
          </a:blipFill>
        </p:spPr>
        <p:txBody>
          <a:bodyPr/>
          <a:lstStyle/>
          <a:p>
            <a:endParaRPr lang="en-IN"/>
          </a:p>
        </p:txBody>
      </p:sp>
      <p:sp>
        <p:nvSpPr>
          <p:cNvPr id="9" name="TextBox 9"/>
          <p:cNvSpPr txBox="1"/>
          <p:nvPr/>
        </p:nvSpPr>
        <p:spPr>
          <a:xfrm>
            <a:off x="835603" y="268508"/>
            <a:ext cx="16423697" cy="1038225"/>
          </a:xfrm>
          <a:prstGeom prst="rect">
            <a:avLst/>
          </a:prstGeom>
        </p:spPr>
        <p:txBody>
          <a:bodyPr lIns="0" tIns="0" rIns="0" bIns="0" rtlCol="0" anchor="t">
            <a:spAutoFit/>
          </a:bodyPr>
          <a:lstStyle/>
          <a:p>
            <a:pPr algn="ctr">
              <a:lnSpc>
                <a:spcPts val="8400"/>
              </a:lnSpc>
              <a:spcBef>
                <a:spcPct val="0"/>
              </a:spcBef>
            </a:pPr>
            <a:r>
              <a:rPr lang="en-US" sz="6000" b="1">
                <a:solidFill>
                  <a:srgbClr val="FFFEFE"/>
                </a:solidFill>
                <a:latin typeface="Arial Nova Bold"/>
                <a:ea typeface="Arial Nova Bold"/>
                <a:cs typeface="Arial Nova Bold"/>
                <a:sym typeface="Arial Nova Bold"/>
              </a:rPr>
              <a:t>STAR SCHEMA DESIGN</a:t>
            </a:r>
          </a:p>
        </p:txBody>
      </p:sp>
      <p:grpSp>
        <p:nvGrpSpPr>
          <p:cNvPr id="10" name="Group 10"/>
          <p:cNvGrpSpPr/>
          <p:nvPr/>
        </p:nvGrpSpPr>
        <p:grpSpPr>
          <a:xfrm>
            <a:off x="9815851" y="1562928"/>
            <a:ext cx="7551887" cy="7706630"/>
            <a:chOff x="0" y="0"/>
            <a:chExt cx="1988974" cy="2029730"/>
          </a:xfrm>
        </p:grpSpPr>
        <p:sp>
          <p:nvSpPr>
            <p:cNvPr id="11" name="Freeform 11"/>
            <p:cNvSpPr/>
            <p:nvPr/>
          </p:nvSpPr>
          <p:spPr>
            <a:xfrm>
              <a:off x="0" y="0"/>
              <a:ext cx="1988974" cy="2029730"/>
            </a:xfrm>
            <a:custGeom>
              <a:avLst/>
              <a:gdLst/>
              <a:ahLst/>
              <a:cxnLst/>
              <a:rect l="l" t="t" r="r" b="b"/>
              <a:pathLst>
                <a:path w="1988974" h="2029730">
                  <a:moveTo>
                    <a:pt x="0" y="0"/>
                  </a:moveTo>
                  <a:lnTo>
                    <a:pt x="1988974" y="0"/>
                  </a:lnTo>
                  <a:lnTo>
                    <a:pt x="1988974" y="2029730"/>
                  </a:lnTo>
                  <a:lnTo>
                    <a:pt x="0" y="2029730"/>
                  </a:lnTo>
                  <a:close/>
                </a:path>
              </a:pathLst>
            </a:custGeom>
            <a:solidFill>
              <a:srgbClr val="036493"/>
            </a:solidFill>
          </p:spPr>
          <p:txBody>
            <a:bodyPr/>
            <a:lstStyle/>
            <a:p>
              <a:endParaRPr lang="en-IN"/>
            </a:p>
          </p:txBody>
        </p:sp>
        <p:sp>
          <p:nvSpPr>
            <p:cNvPr id="12" name="TextBox 12"/>
            <p:cNvSpPr txBox="1"/>
            <p:nvPr/>
          </p:nvSpPr>
          <p:spPr>
            <a:xfrm>
              <a:off x="0" y="-66675"/>
              <a:ext cx="1988974" cy="2096405"/>
            </a:xfrm>
            <a:prstGeom prst="rect">
              <a:avLst/>
            </a:prstGeom>
          </p:spPr>
          <p:txBody>
            <a:bodyPr lIns="50800" tIns="50800" rIns="50800" bIns="50800" rtlCol="0" anchor="ctr"/>
            <a:lstStyle/>
            <a:p>
              <a:pPr algn="l">
                <a:lnSpc>
                  <a:spcPts val="3494"/>
                </a:lnSpc>
              </a:pPr>
              <a:endParaRPr/>
            </a:p>
          </p:txBody>
        </p:sp>
      </p:grpSp>
      <p:sp>
        <p:nvSpPr>
          <p:cNvPr id="13" name="TextBox 13"/>
          <p:cNvSpPr txBox="1"/>
          <p:nvPr/>
        </p:nvSpPr>
        <p:spPr>
          <a:xfrm>
            <a:off x="9815851" y="1736179"/>
            <a:ext cx="7198969" cy="7301149"/>
          </a:xfrm>
          <a:prstGeom prst="rect">
            <a:avLst/>
          </a:prstGeom>
        </p:spPr>
        <p:txBody>
          <a:bodyPr lIns="0" tIns="0" rIns="0" bIns="0" rtlCol="0" anchor="t">
            <a:spAutoFit/>
          </a:bodyPr>
          <a:lstStyle/>
          <a:p>
            <a:pPr marL="596159" lvl="1" indent="-298079" algn="l">
              <a:lnSpc>
                <a:spcPts val="3865"/>
              </a:lnSpc>
              <a:buFont typeface="Arial"/>
              <a:buChar char="•"/>
            </a:pPr>
            <a:r>
              <a:rPr lang="en-US" sz="2761" dirty="0">
                <a:solidFill>
                  <a:srgbClr val="FFFEFE"/>
                </a:solidFill>
                <a:latin typeface="Arial Nova"/>
                <a:ea typeface="Arial Nova"/>
                <a:cs typeface="Arial Nova"/>
                <a:sym typeface="Arial Nova"/>
              </a:rPr>
              <a:t>This Power BI data model uses a star schema where HotelBookings is the fact table connected to dimensions like Date, Customer, Room, and HotelBranch, enabling efficient analysis of hotel performance, revenue trends, and customer behavior.</a:t>
            </a:r>
          </a:p>
          <a:p>
            <a:pPr algn="l">
              <a:lnSpc>
                <a:spcPts val="3865"/>
              </a:lnSpc>
            </a:pPr>
            <a:endParaRPr lang="en-US" sz="2761" dirty="0">
              <a:solidFill>
                <a:srgbClr val="FFFEFE"/>
              </a:solidFill>
              <a:latin typeface="Arial Nova"/>
              <a:ea typeface="Arial Nova"/>
              <a:cs typeface="Arial Nova"/>
              <a:sym typeface="Arial Nova"/>
            </a:endParaRPr>
          </a:p>
          <a:p>
            <a:pPr marL="596159" lvl="1" indent="-298079" algn="l">
              <a:lnSpc>
                <a:spcPts val="3865"/>
              </a:lnSpc>
              <a:buFont typeface="Arial"/>
              <a:buChar char="•"/>
            </a:pPr>
            <a:r>
              <a:rPr lang="en-US" sz="2761" dirty="0">
                <a:solidFill>
                  <a:srgbClr val="FFFEFE"/>
                </a:solidFill>
                <a:latin typeface="Arial Nova"/>
                <a:ea typeface="Arial Nova"/>
                <a:cs typeface="Arial Nova"/>
                <a:sym typeface="Arial Nova"/>
              </a:rPr>
              <a:t>It enables analysis of booking trends, revenue, occupancy, and customer behavior across time and locations.</a:t>
            </a:r>
          </a:p>
          <a:p>
            <a:pPr algn="l">
              <a:lnSpc>
                <a:spcPts val="3865"/>
              </a:lnSpc>
            </a:pPr>
            <a:endParaRPr lang="en-US" sz="2761" dirty="0">
              <a:solidFill>
                <a:srgbClr val="FFFEFE"/>
              </a:solidFill>
              <a:latin typeface="Arial Nova"/>
              <a:ea typeface="Arial Nova"/>
              <a:cs typeface="Arial Nova"/>
              <a:sym typeface="Arial Nova"/>
            </a:endParaRPr>
          </a:p>
          <a:p>
            <a:pPr marL="596159" lvl="1" indent="-298079" algn="l">
              <a:lnSpc>
                <a:spcPts val="3865"/>
              </a:lnSpc>
              <a:buFont typeface="Arial"/>
              <a:buChar char="•"/>
            </a:pPr>
            <a:r>
              <a:rPr lang="en-US" sz="2761" dirty="0">
                <a:solidFill>
                  <a:srgbClr val="FFFEFE"/>
                </a:solidFill>
                <a:latin typeface="Arial Nova"/>
                <a:ea typeface="Arial Nova"/>
                <a:cs typeface="Arial Nova"/>
                <a:sym typeface="Arial Nova"/>
              </a:rPr>
              <a:t> The structure ensures better performance, easy filtering, and accurate KPI calculations.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sp>
        <p:nvSpPr>
          <p:cNvPr id="8" name="Freeform 8"/>
          <p:cNvSpPr/>
          <p:nvPr/>
        </p:nvSpPr>
        <p:spPr>
          <a:xfrm>
            <a:off x="899826" y="1512884"/>
            <a:ext cx="16488349" cy="4120994"/>
          </a:xfrm>
          <a:custGeom>
            <a:avLst/>
            <a:gdLst/>
            <a:ahLst/>
            <a:cxnLst/>
            <a:rect l="l" t="t" r="r" b="b"/>
            <a:pathLst>
              <a:path w="16488349" h="4120994">
                <a:moveTo>
                  <a:pt x="0" y="0"/>
                </a:moveTo>
                <a:lnTo>
                  <a:pt x="16488348" y="0"/>
                </a:lnTo>
                <a:lnTo>
                  <a:pt x="16488348" y="4120994"/>
                </a:lnTo>
                <a:lnTo>
                  <a:pt x="0" y="4120994"/>
                </a:lnTo>
                <a:lnTo>
                  <a:pt x="0" y="0"/>
                </a:lnTo>
                <a:close/>
              </a:path>
            </a:pathLst>
          </a:custGeom>
          <a:blipFill>
            <a:blip r:embed="rId2"/>
            <a:stretch>
              <a:fillRect l="-169" t="-10904" r="-169"/>
            </a:stretch>
          </a:blipFill>
        </p:spPr>
        <p:txBody>
          <a:bodyPr/>
          <a:lstStyle/>
          <a:p>
            <a:endParaRPr lang="en-IN"/>
          </a:p>
        </p:txBody>
      </p:sp>
      <p:sp>
        <p:nvSpPr>
          <p:cNvPr id="9" name="Freeform 9"/>
          <p:cNvSpPr/>
          <p:nvPr/>
        </p:nvSpPr>
        <p:spPr>
          <a:xfrm>
            <a:off x="1409402" y="5633878"/>
            <a:ext cx="7411377" cy="4073581"/>
          </a:xfrm>
          <a:custGeom>
            <a:avLst/>
            <a:gdLst/>
            <a:ahLst/>
            <a:cxnLst/>
            <a:rect l="l" t="t" r="r" b="b"/>
            <a:pathLst>
              <a:path w="7411377" h="4073581">
                <a:moveTo>
                  <a:pt x="0" y="0"/>
                </a:moveTo>
                <a:lnTo>
                  <a:pt x="7411376" y="0"/>
                </a:lnTo>
                <a:lnTo>
                  <a:pt x="7411376" y="4073582"/>
                </a:lnTo>
                <a:lnTo>
                  <a:pt x="0" y="4073582"/>
                </a:lnTo>
                <a:lnTo>
                  <a:pt x="0" y="0"/>
                </a:lnTo>
                <a:close/>
              </a:path>
            </a:pathLst>
          </a:custGeom>
          <a:blipFill>
            <a:blip r:embed="rId3"/>
            <a:stretch>
              <a:fillRect r="-1718"/>
            </a:stretch>
          </a:blipFill>
        </p:spPr>
        <p:txBody>
          <a:bodyPr/>
          <a:lstStyle/>
          <a:p>
            <a:endParaRPr lang="en-IN"/>
          </a:p>
        </p:txBody>
      </p:sp>
      <p:sp>
        <p:nvSpPr>
          <p:cNvPr id="10" name="Freeform 10"/>
          <p:cNvSpPr/>
          <p:nvPr/>
        </p:nvSpPr>
        <p:spPr>
          <a:xfrm>
            <a:off x="9371676" y="5605303"/>
            <a:ext cx="7538771" cy="4042341"/>
          </a:xfrm>
          <a:custGeom>
            <a:avLst/>
            <a:gdLst/>
            <a:ahLst/>
            <a:cxnLst/>
            <a:rect l="l" t="t" r="r" b="b"/>
            <a:pathLst>
              <a:path w="7538771" h="4042341">
                <a:moveTo>
                  <a:pt x="0" y="0"/>
                </a:moveTo>
                <a:lnTo>
                  <a:pt x="7538771" y="0"/>
                </a:lnTo>
                <a:lnTo>
                  <a:pt x="7538771" y="4042342"/>
                </a:lnTo>
                <a:lnTo>
                  <a:pt x="0" y="4042342"/>
                </a:lnTo>
                <a:lnTo>
                  <a:pt x="0" y="0"/>
                </a:lnTo>
                <a:close/>
              </a:path>
            </a:pathLst>
          </a:custGeom>
          <a:blipFill>
            <a:blip r:embed="rId4"/>
            <a:stretch>
              <a:fillRect t="-2166"/>
            </a:stretch>
          </a:blipFill>
        </p:spPr>
        <p:txBody>
          <a:bodyPr/>
          <a:lstStyle/>
          <a:p>
            <a:endParaRPr lang="en-IN"/>
          </a:p>
        </p:txBody>
      </p:sp>
      <p:sp>
        <p:nvSpPr>
          <p:cNvPr id="11" name="TextBox 11"/>
          <p:cNvSpPr txBox="1"/>
          <p:nvPr/>
        </p:nvSpPr>
        <p:spPr>
          <a:xfrm>
            <a:off x="899826" y="316230"/>
            <a:ext cx="16488349" cy="712470"/>
          </a:xfrm>
          <a:prstGeom prst="rect">
            <a:avLst/>
          </a:prstGeom>
        </p:spPr>
        <p:txBody>
          <a:bodyPr lIns="0" tIns="0" rIns="0" bIns="0" rtlCol="0" anchor="t">
            <a:spAutoFit/>
          </a:bodyPr>
          <a:lstStyle/>
          <a:p>
            <a:pPr algn="ctr">
              <a:lnSpc>
                <a:spcPts val="5880"/>
              </a:lnSpc>
              <a:spcBef>
                <a:spcPct val="0"/>
              </a:spcBef>
            </a:pPr>
            <a:r>
              <a:rPr lang="en-US" sz="4200" b="1">
                <a:solidFill>
                  <a:srgbClr val="FFFFFF"/>
                </a:solidFill>
                <a:latin typeface="Arial Nova Bold"/>
                <a:ea typeface="Arial Nova Bold"/>
                <a:cs typeface="Arial Nova Bold"/>
                <a:sym typeface="Arial Nova Bold"/>
              </a:rPr>
              <a:t>DURATION &amp; STAY PATTERN INSIGHTS</a:t>
            </a:r>
          </a:p>
        </p:txBody>
      </p:sp>
      <p:sp>
        <p:nvSpPr>
          <p:cNvPr id="12" name="TextBox 12"/>
          <p:cNvSpPr txBox="1"/>
          <p:nvPr/>
        </p:nvSpPr>
        <p:spPr>
          <a:xfrm>
            <a:off x="899826" y="926779"/>
            <a:ext cx="16488349" cy="481330"/>
          </a:xfrm>
          <a:prstGeom prst="rect">
            <a:avLst/>
          </a:prstGeom>
        </p:spPr>
        <p:txBody>
          <a:bodyPr lIns="0" tIns="0" rIns="0" bIns="0" rtlCol="0" anchor="t">
            <a:spAutoFit/>
          </a:bodyPr>
          <a:lstStyle/>
          <a:p>
            <a:pPr algn="ctr">
              <a:lnSpc>
                <a:spcPts val="3919"/>
              </a:lnSpc>
              <a:spcBef>
                <a:spcPct val="0"/>
              </a:spcBef>
            </a:pPr>
            <a:r>
              <a:rPr lang="en-US" sz="2799" b="1">
                <a:solidFill>
                  <a:srgbClr val="FF914D"/>
                </a:solidFill>
                <a:latin typeface="Arial Nova Bold"/>
                <a:ea typeface="Arial Nova Bold"/>
                <a:cs typeface="Arial Nova Bold"/>
                <a:sym typeface="Arial Nova Bold"/>
              </a:rPr>
              <a:t>Stay Duration Insights Across Branches, Room Categories, And Stay Types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grpSp>
        <p:nvGrpSpPr>
          <p:cNvPr id="8" name="Group 8"/>
          <p:cNvGrpSpPr/>
          <p:nvPr/>
        </p:nvGrpSpPr>
        <p:grpSpPr>
          <a:xfrm>
            <a:off x="573241" y="1464626"/>
            <a:ext cx="17141518" cy="8027670"/>
            <a:chOff x="0" y="0"/>
            <a:chExt cx="4514638" cy="2114283"/>
          </a:xfrm>
        </p:grpSpPr>
        <p:sp>
          <p:nvSpPr>
            <p:cNvPr id="9" name="Freeform 9"/>
            <p:cNvSpPr/>
            <p:nvPr/>
          </p:nvSpPr>
          <p:spPr>
            <a:xfrm>
              <a:off x="0" y="0"/>
              <a:ext cx="4514638" cy="2114284"/>
            </a:xfrm>
            <a:custGeom>
              <a:avLst/>
              <a:gdLst/>
              <a:ahLst/>
              <a:cxnLst/>
              <a:rect l="l" t="t" r="r" b="b"/>
              <a:pathLst>
                <a:path w="4514638" h="2114284">
                  <a:moveTo>
                    <a:pt x="0" y="0"/>
                  </a:moveTo>
                  <a:lnTo>
                    <a:pt x="4514638" y="0"/>
                  </a:lnTo>
                  <a:lnTo>
                    <a:pt x="4514638" y="2114284"/>
                  </a:lnTo>
                  <a:lnTo>
                    <a:pt x="0" y="2114284"/>
                  </a:lnTo>
                  <a:close/>
                </a:path>
              </a:pathLst>
            </a:custGeom>
            <a:solidFill>
              <a:srgbClr val="036493"/>
            </a:solidFill>
          </p:spPr>
          <p:txBody>
            <a:bodyPr/>
            <a:lstStyle/>
            <a:p>
              <a:endParaRPr lang="en-IN"/>
            </a:p>
          </p:txBody>
        </p:sp>
        <p:sp>
          <p:nvSpPr>
            <p:cNvPr id="10" name="TextBox 10"/>
            <p:cNvSpPr txBox="1"/>
            <p:nvPr/>
          </p:nvSpPr>
          <p:spPr>
            <a:xfrm>
              <a:off x="0" y="-66675"/>
              <a:ext cx="4514638" cy="2180958"/>
            </a:xfrm>
            <a:prstGeom prst="rect">
              <a:avLst/>
            </a:prstGeom>
          </p:spPr>
          <p:txBody>
            <a:bodyPr lIns="50800" tIns="50800" rIns="50800" bIns="50800" rtlCol="0" anchor="ctr"/>
            <a:lstStyle/>
            <a:p>
              <a:pPr algn="ctr">
                <a:lnSpc>
                  <a:spcPts val="3494"/>
                </a:lnSpc>
              </a:pPr>
              <a:endParaRPr/>
            </a:p>
          </p:txBody>
        </p:sp>
      </p:grpSp>
      <p:sp>
        <p:nvSpPr>
          <p:cNvPr id="11" name="TextBox 11"/>
          <p:cNvSpPr txBox="1"/>
          <p:nvPr/>
        </p:nvSpPr>
        <p:spPr>
          <a:xfrm>
            <a:off x="817912" y="1568131"/>
            <a:ext cx="16652176" cy="7763510"/>
          </a:xfrm>
          <a:prstGeom prst="rect">
            <a:avLst/>
          </a:prstGeom>
        </p:spPr>
        <p:txBody>
          <a:bodyPr lIns="0" tIns="0" rIns="0" bIns="0" rtlCol="0" anchor="t">
            <a:spAutoFit/>
          </a:bodyPr>
          <a:lstStyle/>
          <a:p>
            <a:pPr marL="0" lvl="0" indent="0" algn="l">
              <a:lnSpc>
                <a:spcPts val="3640"/>
              </a:lnSpc>
            </a:pPr>
            <a:r>
              <a:rPr lang="en-US" sz="2600" b="1" dirty="0">
                <a:solidFill>
                  <a:srgbClr val="FF914D"/>
                </a:solidFill>
                <a:latin typeface="Arial Nova Bold"/>
                <a:ea typeface="Arial Nova Bold"/>
                <a:cs typeface="Arial Nova Bold"/>
                <a:sym typeface="Arial Nova Bold"/>
              </a:rPr>
              <a:t>Purpose </a:t>
            </a:r>
            <a:r>
              <a:rPr lang="en-US" sz="2600" b="1" u="none" strike="noStrike" dirty="0">
                <a:solidFill>
                  <a:srgbClr val="FF914D"/>
                </a:solidFill>
                <a:latin typeface="Arial Nova Bold"/>
                <a:ea typeface="Arial Nova Bold"/>
                <a:cs typeface="Arial Nova Bold"/>
                <a:sym typeface="Arial Nova Bold"/>
              </a:rPr>
              <a:t>of the Module</a:t>
            </a:r>
          </a:p>
          <a:p>
            <a:pPr marL="561341" lvl="1" indent="-280670" algn="l">
              <a:lnSpc>
                <a:spcPts val="3640"/>
              </a:lnSpc>
              <a:buFont typeface="Arial"/>
              <a:buChar char="•"/>
            </a:pPr>
            <a:r>
              <a:rPr lang="en-US" sz="2600" u="none" strike="noStrike" dirty="0">
                <a:solidFill>
                  <a:srgbClr val="FFFFFF"/>
                </a:solidFill>
                <a:latin typeface="Arial Nova"/>
                <a:ea typeface="Arial Nova"/>
                <a:cs typeface="Arial Nova"/>
                <a:sym typeface="Arial Nova"/>
              </a:rPr>
              <a:t>This module evaluates hotel performance using three industry-standard KPIs:</a:t>
            </a:r>
          </a:p>
          <a:p>
            <a:pPr marL="1122681" lvl="2" indent="-374227" algn="l">
              <a:lnSpc>
                <a:spcPts val="3640"/>
              </a:lnSpc>
              <a:buFont typeface="Arial"/>
              <a:buChar char="⚬"/>
            </a:pPr>
            <a:r>
              <a:rPr lang="en-US" sz="2600" u="none" strike="noStrike" dirty="0">
                <a:solidFill>
                  <a:srgbClr val="FFFFFF"/>
                </a:solidFill>
                <a:latin typeface="Arial Nova"/>
                <a:ea typeface="Arial Nova"/>
                <a:cs typeface="Arial Nova"/>
                <a:sym typeface="Arial Nova"/>
              </a:rPr>
              <a:t>Occupancy %</a:t>
            </a:r>
          </a:p>
          <a:p>
            <a:pPr marL="1122681" lvl="2" indent="-374227" algn="l">
              <a:lnSpc>
                <a:spcPts val="3640"/>
              </a:lnSpc>
              <a:buFont typeface="Arial"/>
              <a:buChar char="⚬"/>
            </a:pPr>
            <a:r>
              <a:rPr lang="en-US" sz="2600" u="none" strike="noStrike" dirty="0">
                <a:solidFill>
                  <a:srgbClr val="FFFFFF"/>
                </a:solidFill>
                <a:latin typeface="Arial Nova"/>
                <a:ea typeface="Arial Nova"/>
                <a:cs typeface="Arial Nova"/>
                <a:sym typeface="Arial Nova"/>
              </a:rPr>
              <a:t>Average Daily Rate (ADR)</a:t>
            </a:r>
          </a:p>
          <a:p>
            <a:pPr marL="1122681" lvl="2" indent="-374227" algn="l">
              <a:lnSpc>
                <a:spcPts val="3640"/>
              </a:lnSpc>
              <a:buFont typeface="Arial"/>
              <a:buChar char="⚬"/>
            </a:pPr>
            <a:r>
              <a:rPr lang="en-US" sz="2600" u="none" strike="noStrike" dirty="0">
                <a:solidFill>
                  <a:srgbClr val="FFFFFF"/>
                </a:solidFill>
                <a:latin typeface="Arial Nova"/>
                <a:ea typeface="Arial Nova"/>
                <a:cs typeface="Arial Nova"/>
                <a:sym typeface="Arial Nova"/>
              </a:rPr>
              <a:t>Revenue per Available Room (RevPAR)</a:t>
            </a:r>
          </a:p>
          <a:p>
            <a:pPr algn="l">
              <a:lnSpc>
                <a:spcPts val="3640"/>
              </a:lnSpc>
            </a:pPr>
            <a:endParaRPr lang="en-US" sz="2600" u="none" strike="noStrike" dirty="0">
              <a:solidFill>
                <a:srgbClr val="FFFFFF"/>
              </a:solidFill>
              <a:latin typeface="Arial Nova"/>
              <a:ea typeface="Arial Nova"/>
              <a:cs typeface="Arial Nova"/>
              <a:sym typeface="Arial Nova"/>
            </a:endParaRPr>
          </a:p>
          <a:p>
            <a:pPr marL="0" lvl="0" indent="0" algn="l">
              <a:lnSpc>
                <a:spcPts val="3640"/>
              </a:lnSpc>
            </a:pPr>
            <a:r>
              <a:rPr lang="en-US" sz="2600" b="1" u="none" strike="noStrike" dirty="0">
                <a:solidFill>
                  <a:srgbClr val="FF914D"/>
                </a:solidFill>
                <a:latin typeface="Arial Nova Bold"/>
                <a:ea typeface="Arial Nova Bold"/>
                <a:cs typeface="Arial Nova Bold"/>
                <a:sym typeface="Arial Nova Bold"/>
              </a:rPr>
              <a:t>Key Insights Delivered</a:t>
            </a:r>
          </a:p>
          <a:p>
            <a:pPr marL="561341" lvl="1" indent="-280670" algn="just">
              <a:lnSpc>
                <a:spcPts val="3640"/>
              </a:lnSpc>
              <a:buFont typeface="Arial"/>
              <a:buChar char="•"/>
            </a:pPr>
            <a:r>
              <a:rPr lang="en-US" sz="2600" u="none" strike="noStrike" dirty="0">
                <a:solidFill>
                  <a:srgbClr val="FFFFFF"/>
                </a:solidFill>
                <a:latin typeface="Arial Nova"/>
                <a:ea typeface="Arial Nova"/>
                <a:cs typeface="Arial Nova"/>
                <a:sym typeface="Arial Nova"/>
              </a:rPr>
              <a:t>Tracks operational efficiency (Occupancy)</a:t>
            </a:r>
          </a:p>
          <a:p>
            <a:pPr marL="561341" lvl="1" indent="-280670" algn="l">
              <a:lnSpc>
                <a:spcPts val="3640"/>
              </a:lnSpc>
              <a:buFont typeface="Arial"/>
              <a:buChar char="•"/>
            </a:pPr>
            <a:r>
              <a:rPr lang="en-US" sz="2600" u="none" strike="noStrike" dirty="0">
                <a:solidFill>
                  <a:srgbClr val="FFFFFF"/>
                </a:solidFill>
                <a:latin typeface="Arial Nova"/>
                <a:ea typeface="Arial Nova"/>
                <a:cs typeface="Arial Nova"/>
                <a:sym typeface="Arial Nova"/>
              </a:rPr>
              <a:t>Measures pricing strength (ADR)</a:t>
            </a:r>
          </a:p>
          <a:p>
            <a:pPr marL="561341" lvl="1" indent="-280670" algn="l">
              <a:lnSpc>
                <a:spcPts val="3640"/>
              </a:lnSpc>
              <a:buFont typeface="Arial"/>
              <a:buChar char="•"/>
            </a:pPr>
            <a:r>
              <a:rPr lang="en-US" sz="2600" u="none" strike="noStrike" dirty="0">
                <a:solidFill>
                  <a:srgbClr val="FFFFFF"/>
                </a:solidFill>
                <a:latin typeface="Arial Nova"/>
                <a:ea typeface="Arial Nova"/>
                <a:cs typeface="Arial Nova"/>
                <a:sym typeface="Arial Nova"/>
              </a:rPr>
              <a:t>Assesses overall revenue performance (RevPAR)</a:t>
            </a:r>
          </a:p>
          <a:p>
            <a:pPr algn="l">
              <a:lnSpc>
                <a:spcPts val="3640"/>
              </a:lnSpc>
            </a:pPr>
            <a:endParaRPr lang="en-US" sz="2600" u="none" strike="noStrike" dirty="0">
              <a:solidFill>
                <a:srgbClr val="FFFFFF"/>
              </a:solidFill>
              <a:latin typeface="Arial Nova"/>
              <a:ea typeface="Arial Nova"/>
              <a:cs typeface="Arial Nova"/>
              <a:sym typeface="Arial Nova"/>
            </a:endParaRPr>
          </a:p>
          <a:p>
            <a:pPr marL="0" lvl="0" indent="0" algn="l">
              <a:lnSpc>
                <a:spcPts val="3640"/>
              </a:lnSpc>
            </a:pPr>
            <a:r>
              <a:rPr lang="en-US" sz="2600" b="1" u="none" strike="noStrike" dirty="0">
                <a:solidFill>
                  <a:srgbClr val="FF914D"/>
                </a:solidFill>
                <a:latin typeface="Arial Nova Bold"/>
                <a:ea typeface="Arial Nova Bold"/>
                <a:cs typeface="Arial Nova Bold"/>
                <a:sym typeface="Arial Nova Bold"/>
              </a:rPr>
              <a:t>Business Value</a:t>
            </a:r>
          </a:p>
          <a:p>
            <a:pPr marL="561341" lvl="1" indent="-280670" algn="l">
              <a:lnSpc>
                <a:spcPts val="3640"/>
              </a:lnSpc>
              <a:buFont typeface="Arial"/>
              <a:buChar char="•"/>
            </a:pPr>
            <a:r>
              <a:rPr lang="en-US" sz="2600" u="none" strike="noStrike" dirty="0">
                <a:solidFill>
                  <a:srgbClr val="FFFFFF"/>
                </a:solidFill>
                <a:latin typeface="Arial Nova"/>
                <a:ea typeface="Arial Nova"/>
                <a:cs typeface="Arial Nova"/>
                <a:sym typeface="Arial Nova"/>
              </a:rPr>
              <a:t>Enables hotel managers to:</a:t>
            </a:r>
          </a:p>
          <a:p>
            <a:pPr marL="1122681" lvl="2" indent="-374227" algn="l">
              <a:lnSpc>
                <a:spcPts val="3640"/>
              </a:lnSpc>
              <a:buFont typeface="Arial"/>
              <a:buChar char="⚬"/>
            </a:pPr>
            <a:r>
              <a:rPr lang="en-US" sz="2600" u="none" strike="noStrike" dirty="0">
                <a:solidFill>
                  <a:srgbClr val="FFFFFF"/>
                </a:solidFill>
                <a:latin typeface="Arial Nova"/>
                <a:ea typeface="Arial Nova"/>
                <a:cs typeface="Arial Nova"/>
                <a:sym typeface="Arial Nova"/>
              </a:rPr>
              <a:t>Identify demand patterns</a:t>
            </a:r>
          </a:p>
          <a:p>
            <a:pPr marL="1122681" lvl="2" indent="-374227" algn="l">
              <a:lnSpc>
                <a:spcPts val="3640"/>
              </a:lnSpc>
              <a:buFont typeface="Arial"/>
              <a:buChar char="⚬"/>
            </a:pPr>
            <a:r>
              <a:rPr lang="en-US" sz="2600" u="none" strike="noStrike" dirty="0">
                <a:solidFill>
                  <a:srgbClr val="FFFFFF"/>
                </a:solidFill>
                <a:latin typeface="Arial Nova"/>
                <a:ea typeface="Arial Nova"/>
                <a:cs typeface="Arial Nova"/>
                <a:sym typeface="Arial Nova"/>
              </a:rPr>
              <a:t>Optimize room pricing</a:t>
            </a:r>
          </a:p>
          <a:p>
            <a:pPr marL="1122681" lvl="2" indent="-374227" algn="l">
              <a:lnSpc>
                <a:spcPts val="3640"/>
              </a:lnSpc>
              <a:buFont typeface="Arial"/>
              <a:buChar char="⚬"/>
            </a:pPr>
            <a:r>
              <a:rPr lang="en-US" sz="2600" u="none" strike="noStrike" dirty="0">
                <a:solidFill>
                  <a:srgbClr val="FFFFFF"/>
                </a:solidFill>
                <a:latin typeface="Arial Nova"/>
                <a:ea typeface="Arial Nova"/>
                <a:cs typeface="Arial Nova"/>
                <a:sym typeface="Arial Nova"/>
              </a:rPr>
              <a:t>Balance occupancy and revenue growth</a:t>
            </a:r>
          </a:p>
          <a:p>
            <a:pPr marL="561341" lvl="1" indent="-280670" algn="l">
              <a:lnSpc>
                <a:spcPts val="3640"/>
              </a:lnSpc>
              <a:spcBef>
                <a:spcPct val="0"/>
              </a:spcBef>
              <a:buFont typeface="Arial"/>
              <a:buChar char="•"/>
            </a:pPr>
            <a:r>
              <a:rPr lang="en-US" sz="2600" u="none" strike="noStrike" dirty="0">
                <a:solidFill>
                  <a:srgbClr val="FFFFFF"/>
                </a:solidFill>
                <a:latin typeface="Arial Nova"/>
                <a:ea typeface="Arial Nova"/>
                <a:cs typeface="Arial Nova"/>
                <a:sym typeface="Arial Nova"/>
              </a:rPr>
              <a:t>Supports data-driven revenue management decisions</a:t>
            </a:r>
          </a:p>
        </p:txBody>
      </p:sp>
      <p:sp>
        <p:nvSpPr>
          <p:cNvPr id="12" name="TextBox 12"/>
          <p:cNvSpPr txBox="1"/>
          <p:nvPr/>
        </p:nvSpPr>
        <p:spPr>
          <a:xfrm>
            <a:off x="573241" y="298661"/>
            <a:ext cx="17141518" cy="904875"/>
          </a:xfrm>
          <a:prstGeom prst="rect">
            <a:avLst/>
          </a:prstGeom>
        </p:spPr>
        <p:txBody>
          <a:bodyPr lIns="0" tIns="0" rIns="0" bIns="0" rtlCol="0" anchor="t">
            <a:spAutoFit/>
          </a:bodyPr>
          <a:lstStyle/>
          <a:p>
            <a:pPr algn="ctr">
              <a:lnSpc>
                <a:spcPts val="7500"/>
              </a:lnSpc>
            </a:pPr>
            <a:r>
              <a:rPr lang="en-US" sz="5000" b="1">
                <a:solidFill>
                  <a:srgbClr val="FFFFFF"/>
                </a:solidFill>
                <a:latin typeface="Arial Nova Bold"/>
                <a:ea typeface="Arial Nova Bold"/>
                <a:cs typeface="Arial Nova Bold"/>
                <a:sym typeface="Arial Nova Bold"/>
              </a:rPr>
              <a:t>MODULE 2 - OCCUPANCY AND REVENUE METRICS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sp>
        <p:nvSpPr>
          <p:cNvPr id="8" name="Freeform 8"/>
          <p:cNvSpPr/>
          <p:nvPr/>
        </p:nvSpPr>
        <p:spPr>
          <a:xfrm>
            <a:off x="567780" y="1295176"/>
            <a:ext cx="13786189" cy="7771964"/>
          </a:xfrm>
          <a:custGeom>
            <a:avLst/>
            <a:gdLst/>
            <a:ahLst/>
            <a:cxnLst/>
            <a:rect l="l" t="t" r="r" b="b"/>
            <a:pathLst>
              <a:path w="13786189" h="7771964">
                <a:moveTo>
                  <a:pt x="0" y="0"/>
                </a:moveTo>
                <a:lnTo>
                  <a:pt x="13786189" y="0"/>
                </a:lnTo>
                <a:lnTo>
                  <a:pt x="13786189" y="7771963"/>
                </a:lnTo>
                <a:lnTo>
                  <a:pt x="0" y="7771963"/>
                </a:lnTo>
                <a:lnTo>
                  <a:pt x="0" y="0"/>
                </a:lnTo>
                <a:close/>
              </a:path>
            </a:pathLst>
          </a:custGeom>
          <a:blipFill>
            <a:blip r:embed="rId2"/>
            <a:stretch>
              <a:fillRect/>
            </a:stretch>
          </a:blipFill>
        </p:spPr>
        <p:txBody>
          <a:bodyPr/>
          <a:lstStyle/>
          <a:p>
            <a:endParaRPr lang="en-IN"/>
          </a:p>
        </p:txBody>
      </p:sp>
      <p:sp>
        <p:nvSpPr>
          <p:cNvPr id="9" name="TextBox 9"/>
          <p:cNvSpPr txBox="1"/>
          <p:nvPr/>
        </p:nvSpPr>
        <p:spPr>
          <a:xfrm>
            <a:off x="567780" y="498984"/>
            <a:ext cx="17152439" cy="647700"/>
          </a:xfrm>
          <a:prstGeom prst="rect">
            <a:avLst/>
          </a:prstGeom>
        </p:spPr>
        <p:txBody>
          <a:bodyPr lIns="0" tIns="0" rIns="0" bIns="0" rtlCol="0" anchor="t">
            <a:spAutoFit/>
          </a:bodyPr>
          <a:lstStyle/>
          <a:p>
            <a:pPr algn="ctr">
              <a:lnSpc>
                <a:spcPts val="4800"/>
              </a:lnSpc>
            </a:pPr>
            <a:r>
              <a:rPr lang="en-US" sz="5000" b="1" spc="-255" dirty="0">
                <a:solidFill>
                  <a:srgbClr val="FFFFFF"/>
                </a:solidFill>
                <a:latin typeface="Arial Nova Bold"/>
                <a:ea typeface="Arial Nova Bold"/>
                <a:cs typeface="Arial Nova Bold"/>
                <a:sym typeface="Arial Nova Bold"/>
              </a:rPr>
              <a:t>PERFORMANCE TRENDS &amp; BOOKING CHANNEL ANALYSIS</a:t>
            </a:r>
          </a:p>
        </p:txBody>
      </p:sp>
      <p:grpSp>
        <p:nvGrpSpPr>
          <p:cNvPr id="10" name="Group 10"/>
          <p:cNvGrpSpPr/>
          <p:nvPr/>
        </p:nvGrpSpPr>
        <p:grpSpPr>
          <a:xfrm>
            <a:off x="14534811" y="1295176"/>
            <a:ext cx="3185409" cy="7771964"/>
            <a:chOff x="0" y="0"/>
            <a:chExt cx="838955" cy="2046937"/>
          </a:xfrm>
        </p:grpSpPr>
        <p:sp>
          <p:nvSpPr>
            <p:cNvPr id="11" name="Freeform 11"/>
            <p:cNvSpPr/>
            <p:nvPr/>
          </p:nvSpPr>
          <p:spPr>
            <a:xfrm>
              <a:off x="0" y="0"/>
              <a:ext cx="838955" cy="2046937"/>
            </a:xfrm>
            <a:custGeom>
              <a:avLst/>
              <a:gdLst/>
              <a:ahLst/>
              <a:cxnLst/>
              <a:rect l="l" t="t" r="r" b="b"/>
              <a:pathLst>
                <a:path w="838955" h="2046937">
                  <a:moveTo>
                    <a:pt x="0" y="0"/>
                  </a:moveTo>
                  <a:lnTo>
                    <a:pt x="838955" y="0"/>
                  </a:lnTo>
                  <a:lnTo>
                    <a:pt x="838955" y="2046937"/>
                  </a:lnTo>
                  <a:lnTo>
                    <a:pt x="0" y="2046937"/>
                  </a:lnTo>
                  <a:close/>
                </a:path>
              </a:pathLst>
            </a:custGeom>
            <a:solidFill>
              <a:srgbClr val="036493"/>
            </a:solidFill>
          </p:spPr>
          <p:txBody>
            <a:bodyPr/>
            <a:lstStyle/>
            <a:p>
              <a:endParaRPr lang="en-IN"/>
            </a:p>
          </p:txBody>
        </p:sp>
        <p:sp>
          <p:nvSpPr>
            <p:cNvPr id="12" name="TextBox 12"/>
            <p:cNvSpPr txBox="1"/>
            <p:nvPr/>
          </p:nvSpPr>
          <p:spPr>
            <a:xfrm>
              <a:off x="0" y="-66675"/>
              <a:ext cx="838955" cy="2113612"/>
            </a:xfrm>
            <a:prstGeom prst="rect">
              <a:avLst/>
            </a:prstGeom>
          </p:spPr>
          <p:txBody>
            <a:bodyPr lIns="50800" tIns="50800" rIns="50800" bIns="50800" rtlCol="0" anchor="ctr"/>
            <a:lstStyle/>
            <a:p>
              <a:pPr algn="ctr">
                <a:lnSpc>
                  <a:spcPts val="3494"/>
                </a:lnSpc>
              </a:pPr>
              <a:endParaRPr/>
            </a:p>
          </p:txBody>
        </p:sp>
      </p:grpSp>
      <p:sp>
        <p:nvSpPr>
          <p:cNvPr id="13" name="TextBox 13"/>
          <p:cNvSpPr txBox="1"/>
          <p:nvPr/>
        </p:nvSpPr>
        <p:spPr>
          <a:xfrm>
            <a:off x="14679590" y="1318653"/>
            <a:ext cx="2895849" cy="7693388"/>
          </a:xfrm>
          <a:prstGeom prst="rect">
            <a:avLst/>
          </a:prstGeom>
        </p:spPr>
        <p:txBody>
          <a:bodyPr lIns="0" tIns="0" rIns="0" bIns="0" rtlCol="0" anchor="t">
            <a:spAutoFit/>
          </a:bodyPr>
          <a:lstStyle/>
          <a:p>
            <a:pPr algn="just">
              <a:lnSpc>
                <a:spcPts val="3247"/>
              </a:lnSpc>
            </a:pPr>
            <a:r>
              <a:rPr lang="en-US" sz="2319" b="1" dirty="0">
                <a:solidFill>
                  <a:srgbClr val="FF914D"/>
                </a:solidFill>
                <a:latin typeface="Poppins Bold"/>
                <a:ea typeface="Poppins Bold"/>
                <a:cs typeface="Poppins Bold"/>
                <a:sym typeface="Poppins Bold"/>
              </a:rPr>
              <a:t>    </a:t>
            </a:r>
            <a:r>
              <a:rPr lang="en-US" sz="2400" b="1" dirty="0">
                <a:solidFill>
                  <a:srgbClr val="FF914D"/>
                </a:solidFill>
                <a:latin typeface="Arial Nova" panose="020B0504020202020204" pitchFamily="34" charset="0"/>
                <a:ea typeface="Poppins Bold"/>
                <a:cs typeface="Poppins Bold"/>
                <a:sym typeface="Poppins Bold"/>
              </a:rPr>
              <a:t>Key Insights</a:t>
            </a:r>
          </a:p>
          <a:p>
            <a:pPr marL="457709" lvl="1" indent="-228854" algn="just">
              <a:lnSpc>
                <a:spcPts val="2968"/>
              </a:lnSpc>
              <a:buFont typeface="Arial"/>
              <a:buChar char="•"/>
            </a:pPr>
            <a:r>
              <a:rPr lang="en-US" sz="2400" dirty="0">
                <a:solidFill>
                  <a:srgbClr val="FFFFFF"/>
                </a:solidFill>
                <a:latin typeface="Arial Nova" panose="020B0504020202020204" pitchFamily="34" charset="0"/>
                <a:ea typeface="Poppins"/>
                <a:cs typeface="Poppins"/>
                <a:sym typeface="Poppins"/>
              </a:rPr>
              <a:t>Stable occupancy (~65%) with visible daily volatility.</a:t>
            </a:r>
          </a:p>
          <a:p>
            <a:pPr algn="just">
              <a:lnSpc>
                <a:spcPts val="2968"/>
              </a:lnSpc>
            </a:pPr>
            <a:endParaRPr lang="en-US" sz="2400" dirty="0">
              <a:solidFill>
                <a:srgbClr val="FFFFFF"/>
              </a:solidFill>
              <a:latin typeface="Arial Nova" panose="020B0504020202020204" pitchFamily="34" charset="0"/>
              <a:ea typeface="Poppins"/>
              <a:cs typeface="Poppins"/>
              <a:sym typeface="Poppins"/>
            </a:endParaRPr>
          </a:p>
          <a:p>
            <a:pPr marL="457709" lvl="1" indent="-228854" algn="just">
              <a:lnSpc>
                <a:spcPts val="2968"/>
              </a:lnSpc>
              <a:buFont typeface="Arial"/>
              <a:buChar char="•"/>
            </a:pPr>
            <a:r>
              <a:rPr lang="en-US" sz="2400" dirty="0">
                <a:solidFill>
                  <a:srgbClr val="FFFFFF"/>
                </a:solidFill>
                <a:latin typeface="Arial Nova" panose="020B0504020202020204" pitchFamily="34" charset="0"/>
                <a:ea typeface="Poppins"/>
                <a:cs typeface="Poppins"/>
                <a:sym typeface="Poppins"/>
              </a:rPr>
              <a:t>Weekly trends highlight predictable high-demand periods.</a:t>
            </a:r>
          </a:p>
          <a:p>
            <a:pPr algn="just">
              <a:lnSpc>
                <a:spcPts val="2968"/>
              </a:lnSpc>
            </a:pPr>
            <a:endParaRPr lang="en-US" sz="2400" dirty="0">
              <a:solidFill>
                <a:srgbClr val="FFFFFF"/>
              </a:solidFill>
              <a:latin typeface="Arial Nova" panose="020B0504020202020204" pitchFamily="34" charset="0"/>
              <a:ea typeface="Poppins"/>
              <a:cs typeface="Poppins"/>
              <a:sym typeface="Poppins"/>
            </a:endParaRPr>
          </a:p>
          <a:p>
            <a:pPr marL="457709" lvl="1" indent="-228854" algn="just">
              <a:lnSpc>
                <a:spcPts val="2968"/>
              </a:lnSpc>
              <a:buFont typeface="Arial"/>
              <a:buChar char="•"/>
            </a:pPr>
            <a:r>
              <a:rPr lang="en-US" sz="2400" dirty="0">
                <a:solidFill>
                  <a:srgbClr val="FFFFFF"/>
                </a:solidFill>
                <a:latin typeface="Arial Nova" panose="020B0504020202020204" pitchFamily="34" charset="0"/>
                <a:ea typeface="Poppins"/>
                <a:cs typeface="Poppins"/>
                <a:sym typeface="Poppins"/>
              </a:rPr>
              <a:t>Seasonal peaks support dynamic pricing strategies.</a:t>
            </a:r>
          </a:p>
          <a:p>
            <a:pPr algn="just">
              <a:lnSpc>
                <a:spcPts val="2968"/>
              </a:lnSpc>
            </a:pPr>
            <a:endParaRPr lang="en-US" sz="2400" dirty="0">
              <a:solidFill>
                <a:srgbClr val="FFFFFF"/>
              </a:solidFill>
              <a:latin typeface="Arial Nova" panose="020B0504020202020204" pitchFamily="34" charset="0"/>
              <a:ea typeface="Poppins"/>
              <a:cs typeface="Poppins"/>
              <a:sym typeface="Poppins"/>
            </a:endParaRPr>
          </a:p>
          <a:p>
            <a:pPr marL="457709" lvl="1" indent="-228854" algn="just">
              <a:lnSpc>
                <a:spcPts val="2968"/>
              </a:lnSpc>
              <a:buFont typeface="Arial"/>
              <a:buChar char="•"/>
            </a:pPr>
            <a:r>
              <a:rPr lang="en-US" sz="2400" dirty="0">
                <a:solidFill>
                  <a:srgbClr val="FFFFFF"/>
                </a:solidFill>
                <a:latin typeface="Arial Nova" panose="020B0504020202020204" pitchFamily="34" charset="0"/>
                <a:ea typeface="Poppins"/>
                <a:cs typeface="Poppins"/>
                <a:sym typeface="Poppins"/>
              </a:rPr>
              <a:t>Direct bookings outperform OTA, reducing commission impact.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sp>
        <p:nvSpPr>
          <p:cNvPr id="8" name="TextBox 8"/>
          <p:cNvSpPr txBox="1"/>
          <p:nvPr/>
        </p:nvSpPr>
        <p:spPr>
          <a:xfrm>
            <a:off x="815340" y="156015"/>
            <a:ext cx="16657320" cy="1095375"/>
          </a:xfrm>
          <a:prstGeom prst="rect">
            <a:avLst/>
          </a:prstGeom>
        </p:spPr>
        <p:txBody>
          <a:bodyPr lIns="0" tIns="0" rIns="0" bIns="0" rtlCol="0" anchor="t">
            <a:spAutoFit/>
          </a:bodyPr>
          <a:lstStyle/>
          <a:p>
            <a:pPr algn="ctr">
              <a:lnSpc>
                <a:spcPts val="9000"/>
              </a:lnSpc>
            </a:pPr>
            <a:r>
              <a:rPr lang="en-US" sz="6000" b="1">
                <a:solidFill>
                  <a:srgbClr val="FFFFFF"/>
                </a:solidFill>
                <a:latin typeface="Arial Nova Bold"/>
                <a:ea typeface="Arial Nova Bold"/>
                <a:cs typeface="Arial Nova Bold"/>
                <a:sym typeface="Arial Nova Bold"/>
              </a:rPr>
              <a:t>KPI CALCULATIONS IN POWER BI</a:t>
            </a:r>
          </a:p>
        </p:txBody>
      </p:sp>
      <p:grpSp>
        <p:nvGrpSpPr>
          <p:cNvPr id="9" name="Group 9"/>
          <p:cNvGrpSpPr/>
          <p:nvPr/>
        </p:nvGrpSpPr>
        <p:grpSpPr>
          <a:xfrm>
            <a:off x="815340" y="1396419"/>
            <a:ext cx="16657320" cy="8027670"/>
            <a:chOff x="0" y="0"/>
            <a:chExt cx="4387113" cy="2114283"/>
          </a:xfrm>
        </p:grpSpPr>
        <p:sp>
          <p:nvSpPr>
            <p:cNvPr id="10" name="Freeform 10"/>
            <p:cNvSpPr/>
            <p:nvPr/>
          </p:nvSpPr>
          <p:spPr>
            <a:xfrm>
              <a:off x="0" y="0"/>
              <a:ext cx="4387113" cy="2114284"/>
            </a:xfrm>
            <a:custGeom>
              <a:avLst/>
              <a:gdLst/>
              <a:ahLst/>
              <a:cxnLst/>
              <a:rect l="l" t="t" r="r" b="b"/>
              <a:pathLst>
                <a:path w="4387113" h="2114284">
                  <a:moveTo>
                    <a:pt x="0" y="0"/>
                  </a:moveTo>
                  <a:lnTo>
                    <a:pt x="4387113" y="0"/>
                  </a:lnTo>
                  <a:lnTo>
                    <a:pt x="4387113" y="2114284"/>
                  </a:lnTo>
                  <a:lnTo>
                    <a:pt x="0" y="2114284"/>
                  </a:lnTo>
                  <a:close/>
                </a:path>
              </a:pathLst>
            </a:custGeom>
            <a:solidFill>
              <a:srgbClr val="036493"/>
            </a:solidFill>
          </p:spPr>
          <p:txBody>
            <a:bodyPr/>
            <a:lstStyle/>
            <a:p>
              <a:endParaRPr lang="en-IN"/>
            </a:p>
          </p:txBody>
        </p:sp>
        <p:sp>
          <p:nvSpPr>
            <p:cNvPr id="11" name="TextBox 11"/>
            <p:cNvSpPr txBox="1"/>
            <p:nvPr/>
          </p:nvSpPr>
          <p:spPr>
            <a:xfrm>
              <a:off x="0" y="-66675"/>
              <a:ext cx="4387113" cy="2180958"/>
            </a:xfrm>
            <a:prstGeom prst="rect">
              <a:avLst/>
            </a:prstGeom>
          </p:spPr>
          <p:txBody>
            <a:bodyPr lIns="50800" tIns="50800" rIns="50800" bIns="50800" rtlCol="0" anchor="ctr"/>
            <a:lstStyle/>
            <a:p>
              <a:pPr algn="ctr">
                <a:lnSpc>
                  <a:spcPts val="3494"/>
                </a:lnSpc>
              </a:pPr>
              <a:endParaRPr/>
            </a:p>
          </p:txBody>
        </p:sp>
      </p:grpSp>
      <p:sp>
        <p:nvSpPr>
          <p:cNvPr id="12" name="TextBox 12"/>
          <p:cNvSpPr txBox="1"/>
          <p:nvPr/>
        </p:nvSpPr>
        <p:spPr>
          <a:xfrm>
            <a:off x="1028700" y="1494790"/>
            <a:ext cx="16230600" cy="7763510"/>
          </a:xfrm>
          <a:prstGeom prst="rect">
            <a:avLst/>
          </a:prstGeom>
        </p:spPr>
        <p:txBody>
          <a:bodyPr lIns="0" tIns="0" rIns="0" bIns="0" rtlCol="0" anchor="t">
            <a:spAutoFit/>
          </a:bodyPr>
          <a:lstStyle/>
          <a:p>
            <a:pPr algn="l">
              <a:lnSpc>
                <a:spcPts val="3640"/>
              </a:lnSpc>
            </a:pPr>
            <a:r>
              <a:rPr lang="en-US" sz="2600" b="1" dirty="0">
                <a:solidFill>
                  <a:srgbClr val="FF914D"/>
                </a:solidFill>
                <a:latin typeface="Arial Nova Bold"/>
                <a:ea typeface="Arial Nova Bold"/>
                <a:cs typeface="Arial Nova Bold"/>
                <a:sym typeface="Arial Nova Bold"/>
              </a:rPr>
              <a:t>Occupancy</a:t>
            </a:r>
            <a:r>
              <a:rPr lang="en-US" sz="2600" b="1" u="none" strike="noStrike" dirty="0">
                <a:solidFill>
                  <a:srgbClr val="FF914D"/>
                </a:solidFill>
                <a:latin typeface="Arial Nova Bold"/>
                <a:ea typeface="Arial Nova Bold"/>
                <a:cs typeface="Arial Nova Bold"/>
                <a:sym typeface="Arial Nova Bold"/>
              </a:rPr>
              <a:t> %</a:t>
            </a:r>
          </a:p>
          <a:p>
            <a:pPr algn="l">
              <a:lnSpc>
                <a:spcPts val="3640"/>
              </a:lnSpc>
            </a:pPr>
            <a:endParaRPr lang="en-US" sz="2600" b="1" u="none" strike="noStrike" dirty="0">
              <a:solidFill>
                <a:srgbClr val="FF914D"/>
              </a:solidFill>
              <a:latin typeface="Arial Nova Bold"/>
              <a:ea typeface="Arial Nova Bold"/>
              <a:cs typeface="Arial Nova Bold"/>
              <a:sym typeface="Arial Nova Bold"/>
            </a:endParaRPr>
          </a:p>
          <a:p>
            <a:pPr algn="l">
              <a:lnSpc>
                <a:spcPts val="3640"/>
              </a:lnSpc>
            </a:pPr>
            <a:r>
              <a:rPr lang="en-US" sz="2600" u="none" strike="noStrike" dirty="0">
                <a:solidFill>
                  <a:srgbClr val="FFFFFF"/>
                </a:solidFill>
                <a:latin typeface="Arial Nova"/>
                <a:ea typeface="Arial Nova"/>
                <a:cs typeface="Arial Nova"/>
                <a:sym typeface="Arial Nova"/>
              </a:rPr>
              <a:t> </a:t>
            </a:r>
            <a:r>
              <a:rPr lang="en-US" sz="2600" u="none" strike="noStrike" dirty="0">
                <a:solidFill>
                  <a:srgbClr val="D5EFEF"/>
                </a:solidFill>
                <a:latin typeface="Arial Nova"/>
                <a:ea typeface="Arial Nova"/>
                <a:cs typeface="Arial Nova"/>
                <a:sym typeface="Arial Nova"/>
              </a:rPr>
              <a:t>     </a:t>
            </a:r>
            <a:r>
              <a:rPr lang="en-US" sz="2600" b="1" i="1" u="none" strike="noStrike" dirty="0">
                <a:solidFill>
                  <a:srgbClr val="2EC4B6"/>
                </a:solidFill>
                <a:latin typeface="Arial Nova Bold Italics"/>
                <a:ea typeface="Arial Nova Bold Italics"/>
                <a:cs typeface="Arial Nova Bold Italics"/>
                <a:sym typeface="Arial Nova Bold Italics"/>
              </a:rPr>
              <a:t>Occupancy % = DIVIDE('CalculationTable'[RoomsBooked], 'CalculationTable'[TotalRooms], 0) * 100</a:t>
            </a:r>
          </a:p>
          <a:p>
            <a:pPr algn="l">
              <a:lnSpc>
                <a:spcPts val="3640"/>
              </a:lnSpc>
            </a:pPr>
            <a:endParaRPr lang="en-US" sz="2600" b="1" i="1" u="none" strike="noStrike" dirty="0">
              <a:solidFill>
                <a:srgbClr val="2EC4B6"/>
              </a:solidFill>
              <a:latin typeface="Arial Nova Bold Italics"/>
              <a:ea typeface="Arial Nova Bold Italics"/>
              <a:cs typeface="Arial Nova Bold Italics"/>
              <a:sym typeface="Arial Nova Bold Italics"/>
            </a:endParaRPr>
          </a:p>
          <a:p>
            <a:pPr marL="561341" lvl="1" indent="-280670" algn="l">
              <a:lnSpc>
                <a:spcPts val="3640"/>
              </a:lnSpc>
              <a:buFont typeface="Arial"/>
              <a:buChar char="•"/>
            </a:pPr>
            <a:r>
              <a:rPr lang="en-US" sz="2600" u="none" strike="noStrike" dirty="0">
                <a:solidFill>
                  <a:srgbClr val="FFFFFF"/>
                </a:solidFill>
                <a:latin typeface="Arial Nova"/>
                <a:ea typeface="Arial Nova"/>
                <a:cs typeface="Arial Nova"/>
                <a:sym typeface="Arial Nova"/>
              </a:rPr>
              <a:t>Measures room utilization efficiency.</a:t>
            </a:r>
          </a:p>
          <a:p>
            <a:pPr algn="l">
              <a:lnSpc>
                <a:spcPts val="3640"/>
              </a:lnSpc>
            </a:pPr>
            <a:endParaRPr lang="en-US" sz="2600" u="none" strike="noStrike" dirty="0">
              <a:solidFill>
                <a:srgbClr val="FFFFFF"/>
              </a:solidFill>
              <a:latin typeface="Arial Nova"/>
              <a:ea typeface="Arial Nova"/>
              <a:cs typeface="Arial Nova"/>
              <a:sym typeface="Arial Nova"/>
            </a:endParaRPr>
          </a:p>
          <a:p>
            <a:pPr marL="0" lvl="0" indent="0" algn="l">
              <a:lnSpc>
                <a:spcPts val="3640"/>
              </a:lnSpc>
            </a:pPr>
            <a:r>
              <a:rPr lang="en-US" sz="2600" b="1" u="none" strike="noStrike" dirty="0">
                <a:solidFill>
                  <a:srgbClr val="FF914D"/>
                </a:solidFill>
                <a:latin typeface="Arial Nova Bold"/>
                <a:ea typeface="Arial Nova Bold"/>
                <a:cs typeface="Arial Nova Bold"/>
                <a:sym typeface="Arial Nova Bold"/>
              </a:rPr>
              <a:t>Average Daily Rate (ADR)</a:t>
            </a:r>
          </a:p>
          <a:p>
            <a:pPr algn="l">
              <a:lnSpc>
                <a:spcPts val="3640"/>
              </a:lnSpc>
            </a:pPr>
            <a:endParaRPr lang="en-US" sz="2600" b="1" u="none" strike="noStrike" dirty="0">
              <a:solidFill>
                <a:srgbClr val="FF914D"/>
              </a:solidFill>
              <a:latin typeface="Arial Nova Bold"/>
              <a:ea typeface="Arial Nova Bold"/>
              <a:cs typeface="Arial Nova Bold"/>
              <a:sym typeface="Arial Nova Bold"/>
            </a:endParaRPr>
          </a:p>
          <a:p>
            <a:pPr algn="l">
              <a:lnSpc>
                <a:spcPts val="3640"/>
              </a:lnSpc>
            </a:pPr>
            <a:r>
              <a:rPr lang="en-US" sz="2600" u="none" strike="noStrike" dirty="0">
                <a:solidFill>
                  <a:srgbClr val="D5EFEF"/>
                </a:solidFill>
                <a:latin typeface="Arial Nova"/>
                <a:ea typeface="Arial Nova"/>
                <a:cs typeface="Arial Nova"/>
                <a:sym typeface="Arial Nova"/>
              </a:rPr>
              <a:t>       </a:t>
            </a:r>
            <a:r>
              <a:rPr lang="en-US" sz="2600" b="1" i="1" u="none" strike="noStrike" dirty="0">
                <a:solidFill>
                  <a:srgbClr val="2EC4B6"/>
                </a:solidFill>
                <a:latin typeface="Arial Nova Bold Italics"/>
                <a:ea typeface="Arial Nova Bold Italics"/>
                <a:cs typeface="Arial Nova Bold Italics"/>
                <a:sym typeface="Arial Nova Bold Italics"/>
              </a:rPr>
              <a:t>ADR = DIVIDE('CalculationTable'[TotalRevenue], 'CalculationTable'[RoomsBooked], 0)</a:t>
            </a:r>
          </a:p>
          <a:p>
            <a:pPr algn="l">
              <a:lnSpc>
                <a:spcPts val="3640"/>
              </a:lnSpc>
            </a:pPr>
            <a:endParaRPr lang="en-US" sz="2600" b="1" i="1" u="none" strike="noStrike" dirty="0">
              <a:solidFill>
                <a:srgbClr val="2EC4B6"/>
              </a:solidFill>
              <a:latin typeface="Arial Nova Bold Italics"/>
              <a:ea typeface="Arial Nova Bold Italics"/>
              <a:cs typeface="Arial Nova Bold Italics"/>
              <a:sym typeface="Arial Nova Bold Italics"/>
            </a:endParaRPr>
          </a:p>
          <a:p>
            <a:pPr marL="561341" lvl="1" indent="-280670" algn="l">
              <a:lnSpc>
                <a:spcPts val="3640"/>
              </a:lnSpc>
              <a:buFont typeface="Arial"/>
              <a:buChar char="•"/>
            </a:pPr>
            <a:r>
              <a:rPr lang="en-US" sz="2600" u="none" strike="noStrike" dirty="0">
                <a:solidFill>
                  <a:srgbClr val="FFFFFF"/>
                </a:solidFill>
                <a:latin typeface="Arial Nova"/>
                <a:ea typeface="Arial Nova"/>
                <a:cs typeface="Arial Nova"/>
                <a:sym typeface="Arial Nova"/>
              </a:rPr>
              <a:t>Indicates average revenue earned per occupied room.</a:t>
            </a:r>
          </a:p>
          <a:p>
            <a:pPr algn="l">
              <a:lnSpc>
                <a:spcPts val="3640"/>
              </a:lnSpc>
            </a:pPr>
            <a:endParaRPr lang="en-US" sz="2600" u="none" strike="noStrike" dirty="0">
              <a:solidFill>
                <a:srgbClr val="FFFFFF"/>
              </a:solidFill>
              <a:latin typeface="Arial Nova"/>
              <a:ea typeface="Arial Nova"/>
              <a:cs typeface="Arial Nova"/>
              <a:sym typeface="Arial Nova"/>
            </a:endParaRPr>
          </a:p>
          <a:p>
            <a:pPr marL="0" lvl="0" indent="0" algn="l">
              <a:lnSpc>
                <a:spcPts val="3640"/>
              </a:lnSpc>
            </a:pPr>
            <a:r>
              <a:rPr lang="en-US" sz="2600" b="1" u="none" strike="noStrike" dirty="0">
                <a:solidFill>
                  <a:srgbClr val="FF914D"/>
                </a:solidFill>
                <a:latin typeface="Arial Nova Bold"/>
                <a:ea typeface="Arial Nova Bold"/>
                <a:cs typeface="Arial Nova Bold"/>
                <a:sym typeface="Arial Nova Bold"/>
              </a:rPr>
              <a:t>Revenue Per Available Room (RevPAR)</a:t>
            </a:r>
          </a:p>
          <a:p>
            <a:pPr marL="0" lvl="0" indent="0" algn="l">
              <a:lnSpc>
                <a:spcPts val="3640"/>
              </a:lnSpc>
            </a:pPr>
            <a:endParaRPr lang="en-US" sz="2600" b="1" u="none" strike="noStrike" dirty="0">
              <a:solidFill>
                <a:srgbClr val="FF914D"/>
              </a:solidFill>
              <a:latin typeface="Arial Nova Bold"/>
              <a:ea typeface="Arial Nova Bold"/>
              <a:cs typeface="Arial Nova Bold"/>
              <a:sym typeface="Arial Nova Bold"/>
            </a:endParaRPr>
          </a:p>
          <a:p>
            <a:pPr marL="0" lvl="0" indent="0" algn="l">
              <a:lnSpc>
                <a:spcPts val="3640"/>
              </a:lnSpc>
            </a:pPr>
            <a:r>
              <a:rPr lang="en-US" sz="2600" b="1" u="none" strike="noStrike" dirty="0">
                <a:solidFill>
                  <a:srgbClr val="FF914D"/>
                </a:solidFill>
                <a:latin typeface="Arial Nova Bold"/>
                <a:ea typeface="Arial Nova Bold"/>
                <a:cs typeface="Arial Nova Bold"/>
                <a:sym typeface="Arial Nova Bold"/>
              </a:rPr>
              <a:t>       </a:t>
            </a:r>
            <a:r>
              <a:rPr lang="en-US" sz="2600" b="1" i="1" u="none" strike="noStrike" dirty="0">
                <a:solidFill>
                  <a:srgbClr val="2EC4B6"/>
                </a:solidFill>
                <a:latin typeface="Arial Nova Bold Italics"/>
                <a:ea typeface="Arial Nova Bold Italics"/>
                <a:cs typeface="Arial Nova Bold Italics"/>
                <a:sym typeface="Arial Nova Bold Italics"/>
              </a:rPr>
              <a:t>RevPAR = DIVIDE('CalculationTable'[Occupancy %], 100, 0) * 'CalculationTable'[ADR]</a:t>
            </a:r>
          </a:p>
          <a:p>
            <a:pPr marL="0" lvl="0" indent="0" algn="l">
              <a:lnSpc>
                <a:spcPts val="3640"/>
              </a:lnSpc>
            </a:pPr>
            <a:endParaRPr lang="en-US" sz="2600" b="1" i="1" u="none" strike="noStrike" dirty="0">
              <a:solidFill>
                <a:srgbClr val="2EC4B6"/>
              </a:solidFill>
              <a:latin typeface="Arial Nova Bold Italics"/>
              <a:ea typeface="Arial Nova Bold Italics"/>
              <a:cs typeface="Arial Nova Bold Italics"/>
              <a:sym typeface="Arial Nova Bold Italics"/>
            </a:endParaRPr>
          </a:p>
          <a:p>
            <a:pPr marL="561341" lvl="1" indent="-280670" algn="l">
              <a:lnSpc>
                <a:spcPts val="3640"/>
              </a:lnSpc>
              <a:spcBef>
                <a:spcPct val="0"/>
              </a:spcBef>
              <a:buFont typeface="Arial"/>
              <a:buChar char="•"/>
            </a:pPr>
            <a:r>
              <a:rPr lang="en-US" sz="2600" u="none" strike="noStrike" dirty="0">
                <a:solidFill>
                  <a:srgbClr val="FFFFFF"/>
                </a:solidFill>
                <a:latin typeface="Arial Nova"/>
                <a:ea typeface="Arial Nova"/>
                <a:cs typeface="Arial Nova"/>
                <a:sym typeface="Arial Nova"/>
              </a:rPr>
              <a:t>Combines occupancy and pricing to reflect overall revenue performance.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sp>
        <p:nvSpPr>
          <p:cNvPr id="8" name="TextBox 8"/>
          <p:cNvSpPr txBox="1"/>
          <p:nvPr/>
        </p:nvSpPr>
        <p:spPr>
          <a:xfrm>
            <a:off x="593730" y="8890703"/>
            <a:ext cx="6193943" cy="405765"/>
          </a:xfrm>
          <a:prstGeom prst="rect">
            <a:avLst/>
          </a:prstGeom>
        </p:spPr>
        <p:txBody>
          <a:bodyPr lIns="0" tIns="0" rIns="0" bIns="0" rtlCol="0" anchor="t">
            <a:spAutoFit/>
          </a:bodyPr>
          <a:lstStyle/>
          <a:p>
            <a:pPr marL="0" lvl="0" indent="0" algn="ctr">
              <a:lnSpc>
                <a:spcPts val="3359"/>
              </a:lnSpc>
            </a:pPr>
            <a:r>
              <a:rPr lang="en-US" sz="2400" b="1" i="1" u="none" strike="noStrike">
                <a:solidFill>
                  <a:srgbClr val="2EC4B6">
                    <a:alpha val="71765"/>
                  </a:srgbClr>
                </a:solidFill>
                <a:latin typeface="Arial Nova Bold Italics"/>
                <a:ea typeface="Arial Nova Bold Italics"/>
                <a:cs typeface="Arial Nova Bold Italics"/>
                <a:sym typeface="Arial Nova Bold Italics"/>
              </a:rPr>
              <a:t>Customer Cluster in Fact Table (Bookings)</a:t>
            </a:r>
          </a:p>
        </p:txBody>
      </p:sp>
      <p:sp>
        <p:nvSpPr>
          <p:cNvPr id="9" name="TextBox 9"/>
          <p:cNvSpPr txBox="1"/>
          <p:nvPr/>
        </p:nvSpPr>
        <p:spPr>
          <a:xfrm>
            <a:off x="6941297" y="8888631"/>
            <a:ext cx="10752973" cy="405765"/>
          </a:xfrm>
          <a:prstGeom prst="rect">
            <a:avLst/>
          </a:prstGeom>
        </p:spPr>
        <p:txBody>
          <a:bodyPr lIns="0" tIns="0" rIns="0" bIns="0" rtlCol="0" anchor="t">
            <a:spAutoFit/>
          </a:bodyPr>
          <a:lstStyle/>
          <a:p>
            <a:pPr marL="0" lvl="0" indent="0" algn="ctr">
              <a:lnSpc>
                <a:spcPts val="3359"/>
              </a:lnSpc>
            </a:pPr>
            <a:r>
              <a:rPr lang="en-US" sz="2400" b="1" i="1" u="none" strike="noStrike">
                <a:solidFill>
                  <a:srgbClr val="2EC4B6">
                    <a:alpha val="71765"/>
                  </a:srgbClr>
                </a:solidFill>
                <a:latin typeface="Arial Nova Bold Italics"/>
                <a:ea typeface="Arial Nova Bold Italics"/>
                <a:cs typeface="Arial Nova Bold Italics"/>
                <a:sym typeface="Arial Nova Bold Italics"/>
              </a:rPr>
              <a:t>Guest Type in Fact Table (Bookings)</a:t>
            </a:r>
          </a:p>
        </p:txBody>
      </p:sp>
      <p:sp>
        <p:nvSpPr>
          <p:cNvPr id="10" name="Freeform 10"/>
          <p:cNvSpPr/>
          <p:nvPr/>
        </p:nvSpPr>
        <p:spPr>
          <a:xfrm>
            <a:off x="593730" y="5815454"/>
            <a:ext cx="6193943" cy="2884749"/>
          </a:xfrm>
          <a:custGeom>
            <a:avLst/>
            <a:gdLst/>
            <a:ahLst/>
            <a:cxnLst/>
            <a:rect l="l" t="t" r="r" b="b"/>
            <a:pathLst>
              <a:path w="6193943" h="2884749">
                <a:moveTo>
                  <a:pt x="0" y="0"/>
                </a:moveTo>
                <a:lnTo>
                  <a:pt x="6193943" y="0"/>
                </a:lnTo>
                <a:lnTo>
                  <a:pt x="6193943" y="2884749"/>
                </a:lnTo>
                <a:lnTo>
                  <a:pt x="0" y="2884749"/>
                </a:lnTo>
                <a:lnTo>
                  <a:pt x="0" y="0"/>
                </a:lnTo>
                <a:close/>
              </a:path>
            </a:pathLst>
          </a:custGeom>
          <a:blipFill>
            <a:blip r:embed="rId2"/>
            <a:stretch>
              <a:fillRect r="-44277"/>
            </a:stretch>
          </a:blipFill>
        </p:spPr>
        <p:txBody>
          <a:bodyPr/>
          <a:lstStyle/>
          <a:p>
            <a:endParaRPr lang="en-IN"/>
          </a:p>
        </p:txBody>
      </p:sp>
      <p:sp>
        <p:nvSpPr>
          <p:cNvPr id="11" name="Freeform 11"/>
          <p:cNvSpPr/>
          <p:nvPr/>
        </p:nvSpPr>
        <p:spPr>
          <a:xfrm>
            <a:off x="6941297" y="5874676"/>
            <a:ext cx="10752973" cy="2766305"/>
          </a:xfrm>
          <a:custGeom>
            <a:avLst/>
            <a:gdLst/>
            <a:ahLst/>
            <a:cxnLst/>
            <a:rect l="l" t="t" r="r" b="b"/>
            <a:pathLst>
              <a:path w="10752973" h="2766305">
                <a:moveTo>
                  <a:pt x="0" y="0"/>
                </a:moveTo>
                <a:lnTo>
                  <a:pt x="10752973" y="0"/>
                </a:lnTo>
                <a:lnTo>
                  <a:pt x="10752973" y="2766305"/>
                </a:lnTo>
                <a:lnTo>
                  <a:pt x="0" y="2766305"/>
                </a:lnTo>
                <a:lnTo>
                  <a:pt x="0" y="0"/>
                </a:lnTo>
                <a:close/>
              </a:path>
            </a:pathLst>
          </a:custGeom>
          <a:blipFill>
            <a:blip r:embed="rId3"/>
            <a:stretch>
              <a:fillRect r="-10119"/>
            </a:stretch>
          </a:blipFill>
        </p:spPr>
        <p:txBody>
          <a:bodyPr/>
          <a:lstStyle/>
          <a:p>
            <a:endParaRPr lang="en-IN"/>
          </a:p>
        </p:txBody>
      </p:sp>
      <p:sp>
        <p:nvSpPr>
          <p:cNvPr id="12" name="TextBox 12"/>
          <p:cNvSpPr txBox="1"/>
          <p:nvPr/>
        </p:nvSpPr>
        <p:spPr>
          <a:xfrm>
            <a:off x="593730" y="248818"/>
            <a:ext cx="17100540" cy="1038225"/>
          </a:xfrm>
          <a:prstGeom prst="rect">
            <a:avLst/>
          </a:prstGeom>
        </p:spPr>
        <p:txBody>
          <a:bodyPr lIns="0" tIns="0" rIns="0" bIns="0" rtlCol="0" anchor="t">
            <a:spAutoFit/>
          </a:bodyPr>
          <a:lstStyle/>
          <a:p>
            <a:pPr algn="ctr">
              <a:lnSpc>
                <a:spcPts val="8400"/>
              </a:lnSpc>
            </a:pPr>
            <a:r>
              <a:rPr lang="en-US" sz="6000" b="1">
                <a:solidFill>
                  <a:srgbClr val="FFFFFF"/>
                </a:solidFill>
                <a:latin typeface="Arial Nova Bold"/>
                <a:ea typeface="Arial Nova Bold"/>
                <a:cs typeface="Arial Nova Bold"/>
                <a:sym typeface="Arial Nova Bold"/>
              </a:rPr>
              <a:t>GUEST ANALYSIS</a:t>
            </a:r>
          </a:p>
        </p:txBody>
      </p:sp>
      <p:sp>
        <p:nvSpPr>
          <p:cNvPr id="13" name="TextBox 13"/>
          <p:cNvSpPr txBox="1"/>
          <p:nvPr/>
        </p:nvSpPr>
        <p:spPr>
          <a:xfrm>
            <a:off x="593730" y="1394788"/>
            <a:ext cx="17100540" cy="4265295"/>
          </a:xfrm>
          <a:prstGeom prst="rect">
            <a:avLst/>
          </a:prstGeom>
        </p:spPr>
        <p:txBody>
          <a:bodyPr lIns="0" tIns="0" rIns="0" bIns="0" rtlCol="0" anchor="t">
            <a:spAutoFit/>
          </a:bodyPr>
          <a:lstStyle/>
          <a:p>
            <a:pPr marL="582930" lvl="1" indent="-291465" algn="l">
              <a:lnSpc>
                <a:spcPts val="3779"/>
              </a:lnSpc>
              <a:buFont typeface="Arial"/>
              <a:buChar char="•"/>
            </a:pPr>
            <a:r>
              <a:rPr lang="en-US" sz="2700" b="1">
                <a:solidFill>
                  <a:srgbClr val="FF914D"/>
                </a:solidFill>
                <a:latin typeface="Arial Nova Bold"/>
                <a:ea typeface="Arial Nova Bold"/>
                <a:cs typeface="Arial Nova Bold"/>
                <a:sym typeface="Arial Nova Bold"/>
              </a:rPr>
              <a:t>Objective:</a:t>
            </a:r>
            <a:r>
              <a:rPr lang="en-US" sz="2700">
                <a:solidFill>
                  <a:srgbClr val="FFFFFF"/>
                </a:solidFill>
                <a:latin typeface="Arial Nova"/>
                <a:ea typeface="Arial Nova"/>
                <a:cs typeface="Arial Nova"/>
                <a:sym typeface="Arial Nova"/>
              </a:rPr>
              <a:t> To classify hotel guests into distinct segments and behavioral clusters to enable targeted</a:t>
            </a:r>
          </a:p>
          <a:p>
            <a:pPr algn="l">
              <a:lnSpc>
                <a:spcPts val="3779"/>
              </a:lnSpc>
            </a:pPr>
            <a:r>
              <a:rPr lang="en-US" sz="2700">
                <a:solidFill>
                  <a:srgbClr val="FFFFFF"/>
                </a:solidFill>
                <a:latin typeface="Arial Nova"/>
                <a:ea typeface="Arial Nova"/>
                <a:cs typeface="Arial Nova"/>
                <a:sym typeface="Arial Nova"/>
              </a:rPr>
              <a:t>                         marketing and personalized services.</a:t>
            </a:r>
          </a:p>
          <a:p>
            <a:pPr algn="l">
              <a:lnSpc>
                <a:spcPts val="3779"/>
              </a:lnSpc>
            </a:pPr>
            <a:r>
              <a:rPr lang="en-US" sz="2700">
                <a:solidFill>
                  <a:srgbClr val="FFFFFF"/>
                </a:solidFill>
                <a:latin typeface="Arial Nova"/>
                <a:ea typeface="Arial Nova"/>
                <a:cs typeface="Arial Nova"/>
                <a:sym typeface="Arial Nova"/>
              </a:rPr>
              <a:t>   </a:t>
            </a:r>
            <a:r>
              <a:rPr lang="en-US" sz="2700">
                <a:solidFill>
                  <a:srgbClr val="FF914D"/>
                </a:solidFill>
                <a:latin typeface="Arial Nova"/>
                <a:ea typeface="Arial Nova"/>
                <a:cs typeface="Arial Nova"/>
                <a:sym typeface="Arial Nova"/>
              </a:rPr>
              <a:t>                       </a:t>
            </a:r>
          </a:p>
          <a:p>
            <a:pPr marL="582930" lvl="1" indent="-291465" algn="l">
              <a:lnSpc>
                <a:spcPts val="3779"/>
              </a:lnSpc>
              <a:buFont typeface="Arial"/>
              <a:buChar char="•"/>
            </a:pPr>
            <a:r>
              <a:rPr lang="en-US" sz="2700" b="1">
                <a:solidFill>
                  <a:srgbClr val="FF914D"/>
                </a:solidFill>
                <a:latin typeface="Arial Nova Bold"/>
                <a:ea typeface="Arial Nova Bold"/>
                <a:cs typeface="Arial Nova Bold"/>
                <a:sym typeface="Arial Nova Bold"/>
              </a:rPr>
              <a:t>The 3 Core Parts:</a:t>
            </a:r>
          </a:p>
          <a:p>
            <a:pPr marL="1165860" lvl="2" indent="-388620" algn="l">
              <a:lnSpc>
                <a:spcPts val="3779"/>
              </a:lnSpc>
              <a:buFont typeface="Arial"/>
              <a:buChar char="⚬"/>
            </a:pPr>
            <a:r>
              <a:rPr lang="en-US" sz="2700">
                <a:solidFill>
                  <a:srgbClr val="FFFFFF"/>
                </a:solidFill>
                <a:latin typeface="Arial Nova"/>
                <a:ea typeface="Arial Nova"/>
                <a:cs typeface="Arial Nova"/>
                <a:sym typeface="Arial Nova"/>
              </a:rPr>
              <a:t>Guest Type Analysis: Segmenting by purpose (Business, Family, Solo, Corporate).</a:t>
            </a:r>
          </a:p>
          <a:p>
            <a:pPr marL="1165860" lvl="2" indent="-388620" algn="l">
              <a:lnSpc>
                <a:spcPts val="3779"/>
              </a:lnSpc>
              <a:buFont typeface="Arial"/>
              <a:buChar char="⚬"/>
            </a:pPr>
            <a:r>
              <a:rPr lang="en-US" sz="2700">
                <a:solidFill>
                  <a:srgbClr val="FFFFFF"/>
                </a:solidFill>
                <a:latin typeface="Arial Nova"/>
                <a:ea typeface="Arial Nova"/>
                <a:cs typeface="Arial Nova"/>
                <a:sym typeface="Arial Nova"/>
              </a:rPr>
              <a:t>Customer Clustering: Grouping by value &amp; frequency (First-Timers, Loyal Guests, High Spenders).</a:t>
            </a:r>
          </a:p>
          <a:p>
            <a:pPr marL="1165860" lvl="2" indent="-388620" algn="l">
              <a:lnSpc>
                <a:spcPts val="3779"/>
              </a:lnSpc>
              <a:buFont typeface="Arial"/>
              <a:buChar char="⚬"/>
            </a:pPr>
            <a:r>
              <a:rPr lang="en-US" sz="2700">
                <a:solidFill>
                  <a:srgbClr val="FFFFFF"/>
                </a:solidFill>
                <a:latin typeface="Arial Nova"/>
                <a:ea typeface="Arial Nova"/>
                <a:cs typeface="Arial Nova"/>
                <a:sym typeface="Arial Nova"/>
              </a:rPr>
              <a:t>Visual Dashboards: Bar Charts, Pie Charts and Geographic Maps to visualize patterns.</a:t>
            </a:r>
          </a:p>
          <a:p>
            <a:pPr algn="l">
              <a:lnSpc>
                <a:spcPts val="3779"/>
              </a:lnSpc>
            </a:pPr>
            <a:endParaRPr lang="en-US" sz="2700">
              <a:solidFill>
                <a:srgbClr val="FFFFFF"/>
              </a:solidFill>
              <a:latin typeface="Arial Nova"/>
              <a:ea typeface="Arial Nova"/>
              <a:cs typeface="Arial Nova"/>
              <a:sym typeface="Arial Nova"/>
            </a:endParaRPr>
          </a:p>
          <a:p>
            <a:pPr marL="582930" lvl="1" indent="-291465" algn="l">
              <a:lnSpc>
                <a:spcPts val="3779"/>
              </a:lnSpc>
              <a:buFont typeface="Arial"/>
              <a:buChar char="•"/>
            </a:pPr>
            <a:r>
              <a:rPr lang="en-US" sz="2700" b="1">
                <a:solidFill>
                  <a:srgbClr val="FF914D"/>
                </a:solidFill>
                <a:latin typeface="Arial Nova Bold"/>
                <a:ea typeface="Arial Nova Bold"/>
                <a:cs typeface="Arial Nova Bold"/>
                <a:sym typeface="Arial Nova Bold"/>
              </a:rPr>
              <a:t>PowerBI Formulas: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sp>
        <p:nvSpPr>
          <p:cNvPr id="8" name="Freeform 8"/>
          <p:cNvSpPr/>
          <p:nvPr/>
        </p:nvSpPr>
        <p:spPr>
          <a:xfrm>
            <a:off x="10929705" y="2148718"/>
            <a:ext cx="6500199" cy="3842078"/>
          </a:xfrm>
          <a:custGeom>
            <a:avLst/>
            <a:gdLst/>
            <a:ahLst/>
            <a:cxnLst/>
            <a:rect l="l" t="t" r="r" b="b"/>
            <a:pathLst>
              <a:path w="6500199" h="3842078">
                <a:moveTo>
                  <a:pt x="0" y="0"/>
                </a:moveTo>
                <a:lnTo>
                  <a:pt x="6500199" y="0"/>
                </a:lnTo>
                <a:lnTo>
                  <a:pt x="6500199" y="3842078"/>
                </a:lnTo>
                <a:lnTo>
                  <a:pt x="0" y="3842078"/>
                </a:lnTo>
                <a:lnTo>
                  <a:pt x="0" y="0"/>
                </a:lnTo>
                <a:close/>
              </a:path>
            </a:pathLst>
          </a:custGeom>
          <a:blipFill>
            <a:blip r:embed="rId2"/>
            <a:stretch>
              <a:fillRect l="-78606" t="-11768" r="-55245"/>
            </a:stretch>
          </a:blipFill>
        </p:spPr>
        <p:txBody>
          <a:bodyPr/>
          <a:lstStyle/>
          <a:p>
            <a:endParaRPr lang="en-IN"/>
          </a:p>
        </p:txBody>
      </p:sp>
      <p:sp>
        <p:nvSpPr>
          <p:cNvPr id="9" name="Freeform 9"/>
          <p:cNvSpPr/>
          <p:nvPr/>
        </p:nvSpPr>
        <p:spPr>
          <a:xfrm>
            <a:off x="10929705" y="1695079"/>
            <a:ext cx="6500199" cy="503334"/>
          </a:xfrm>
          <a:custGeom>
            <a:avLst/>
            <a:gdLst/>
            <a:ahLst/>
            <a:cxnLst/>
            <a:rect l="l" t="t" r="r" b="b"/>
            <a:pathLst>
              <a:path w="6500199" h="503334">
                <a:moveTo>
                  <a:pt x="0" y="0"/>
                </a:moveTo>
                <a:lnTo>
                  <a:pt x="6500199" y="0"/>
                </a:lnTo>
                <a:lnTo>
                  <a:pt x="6500199" y="503335"/>
                </a:lnTo>
                <a:lnTo>
                  <a:pt x="0" y="503335"/>
                </a:lnTo>
                <a:lnTo>
                  <a:pt x="0" y="0"/>
                </a:lnTo>
                <a:close/>
              </a:path>
            </a:pathLst>
          </a:custGeom>
          <a:blipFill>
            <a:blip r:embed="rId3"/>
            <a:stretch>
              <a:fillRect/>
            </a:stretch>
          </a:blipFill>
        </p:spPr>
        <p:txBody>
          <a:bodyPr/>
          <a:lstStyle/>
          <a:p>
            <a:endParaRPr lang="en-IN"/>
          </a:p>
        </p:txBody>
      </p:sp>
      <p:sp>
        <p:nvSpPr>
          <p:cNvPr id="10" name="Freeform 10"/>
          <p:cNvSpPr/>
          <p:nvPr/>
        </p:nvSpPr>
        <p:spPr>
          <a:xfrm>
            <a:off x="650352" y="1695079"/>
            <a:ext cx="5333655" cy="4225624"/>
          </a:xfrm>
          <a:custGeom>
            <a:avLst/>
            <a:gdLst/>
            <a:ahLst/>
            <a:cxnLst/>
            <a:rect l="l" t="t" r="r" b="b"/>
            <a:pathLst>
              <a:path w="5333655" h="4225624">
                <a:moveTo>
                  <a:pt x="0" y="0"/>
                </a:moveTo>
                <a:lnTo>
                  <a:pt x="5333655" y="0"/>
                </a:lnTo>
                <a:lnTo>
                  <a:pt x="5333655" y="4225624"/>
                </a:lnTo>
                <a:lnTo>
                  <a:pt x="0" y="4225624"/>
                </a:lnTo>
                <a:lnTo>
                  <a:pt x="0" y="0"/>
                </a:lnTo>
                <a:close/>
              </a:path>
            </a:pathLst>
          </a:custGeom>
          <a:blipFill>
            <a:blip r:embed="rId4"/>
            <a:stretch>
              <a:fillRect t="-1630" r="-3261" b="-29969"/>
            </a:stretch>
          </a:blipFill>
        </p:spPr>
        <p:txBody>
          <a:bodyPr/>
          <a:lstStyle/>
          <a:p>
            <a:endParaRPr lang="en-IN"/>
          </a:p>
        </p:txBody>
      </p:sp>
      <p:sp>
        <p:nvSpPr>
          <p:cNvPr id="11" name="Freeform 11"/>
          <p:cNvSpPr/>
          <p:nvPr/>
        </p:nvSpPr>
        <p:spPr>
          <a:xfrm>
            <a:off x="650352" y="6193661"/>
            <a:ext cx="5333655" cy="3489417"/>
          </a:xfrm>
          <a:custGeom>
            <a:avLst/>
            <a:gdLst/>
            <a:ahLst/>
            <a:cxnLst/>
            <a:rect l="l" t="t" r="r" b="b"/>
            <a:pathLst>
              <a:path w="5333655" h="3489417">
                <a:moveTo>
                  <a:pt x="0" y="0"/>
                </a:moveTo>
                <a:lnTo>
                  <a:pt x="5333655" y="0"/>
                </a:lnTo>
                <a:lnTo>
                  <a:pt x="5333655" y="3489416"/>
                </a:lnTo>
                <a:lnTo>
                  <a:pt x="0" y="3489416"/>
                </a:lnTo>
                <a:lnTo>
                  <a:pt x="0" y="0"/>
                </a:lnTo>
                <a:close/>
              </a:path>
            </a:pathLst>
          </a:custGeom>
          <a:blipFill>
            <a:blip r:embed="rId5"/>
            <a:stretch>
              <a:fillRect r="-2327"/>
            </a:stretch>
          </a:blipFill>
        </p:spPr>
        <p:txBody>
          <a:bodyPr/>
          <a:lstStyle/>
          <a:p>
            <a:endParaRPr lang="en-IN"/>
          </a:p>
        </p:txBody>
      </p:sp>
      <p:sp>
        <p:nvSpPr>
          <p:cNvPr id="12" name="Freeform 12"/>
          <p:cNvSpPr/>
          <p:nvPr/>
        </p:nvSpPr>
        <p:spPr>
          <a:xfrm>
            <a:off x="6180847" y="6209871"/>
            <a:ext cx="4581080" cy="3473206"/>
          </a:xfrm>
          <a:custGeom>
            <a:avLst/>
            <a:gdLst/>
            <a:ahLst/>
            <a:cxnLst/>
            <a:rect l="l" t="t" r="r" b="b"/>
            <a:pathLst>
              <a:path w="4581080" h="3473206">
                <a:moveTo>
                  <a:pt x="0" y="0"/>
                </a:moveTo>
                <a:lnTo>
                  <a:pt x="4581080" y="0"/>
                </a:lnTo>
                <a:lnTo>
                  <a:pt x="4581080" y="3473206"/>
                </a:lnTo>
                <a:lnTo>
                  <a:pt x="0" y="3473206"/>
                </a:lnTo>
                <a:lnTo>
                  <a:pt x="0" y="0"/>
                </a:lnTo>
                <a:close/>
              </a:path>
            </a:pathLst>
          </a:custGeom>
          <a:blipFill>
            <a:blip r:embed="rId6"/>
            <a:stretch>
              <a:fillRect l="-1660" r="-4482"/>
            </a:stretch>
          </a:blipFill>
        </p:spPr>
        <p:txBody>
          <a:bodyPr/>
          <a:lstStyle/>
          <a:p>
            <a:endParaRPr lang="en-IN"/>
          </a:p>
        </p:txBody>
      </p:sp>
      <p:sp>
        <p:nvSpPr>
          <p:cNvPr id="13" name="Freeform 13"/>
          <p:cNvSpPr/>
          <p:nvPr/>
        </p:nvSpPr>
        <p:spPr>
          <a:xfrm>
            <a:off x="10958768" y="6193661"/>
            <a:ext cx="6442074" cy="3489417"/>
          </a:xfrm>
          <a:custGeom>
            <a:avLst/>
            <a:gdLst/>
            <a:ahLst/>
            <a:cxnLst/>
            <a:rect l="l" t="t" r="r" b="b"/>
            <a:pathLst>
              <a:path w="6442074" h="3489417">
                <a:moveTo>
                  <a:pt x="0" y="0"/>
                </a:moveTo>
                <a:lnTo>
                  <a:pt x="6442074" y="0"/>
                </a:lnTo>
                <a:lnTo>
                  <a:pt x="6442074" y="3489416"/>
                </a:lnTo>
                <a:lnTo>
                  <a:pt x="0" y="3489416"/>
                </a:lnTo>
                <a:lnTo>
                  <a:pt x="0" y="0"/>
                </a:lnTo>
                <a:close/>
              </a:path>
            </a:pathLst>
          </a:custGeom>
          <a:blipFill>
            <a:blip r:embed="rId7"/>
            <a:stretch>
              <a:fillRect t="-3208"/>
            </a:stretch>
          </a:blipFill>
        </p:spPr>
        <p:txBody>
          <a:bodyPr/>
          <a:lstStyle/>
          <a:p>
            <a:endParaRPr lang="en-IN"/>
          </a:p>
        </p:txBody>
      </p:sp>
      <p:sp>
        <p:nvSpPr>
          <p:cNvPr id="14" name="Freeform 14"/>
          <p:cNvSpPr/>
          <p:nvPr/>
        </p:nvSpPr>
        <p:spPr>
          <a:xfrm>
            <a:off x="6251575" y="1695079"/>
            <a:ext cx="4474692" cy="4295717"/>
          </a:xfrm>
          <a:custGeom>
            <a:avLst/>
            <a:gdLst/>
            <a:ahLst/>
            <a:cxnLst/>
            <a:rect l="l" t="t" r="r" b="b"/>
            <a:pathLst>
              <a:path w="4474692" h="4295717">
                <a:moveTo>
                  <a:pt x="0" y="0"/>
                </a:moveTo>
                <a:lnTo>
                  <a:pt x="4474692" y="0"/>
                </a:lnTo>
                <a:lnTo>
                  <a:pt x="4474692" y="4295717"/>
                </a:lnTo>
                <a:lnTo>
                  <a:pt x="0" y="4295717"/>
                </a:lnTo>
                <a:lnTo>
                  <a:pt x="0" y="0"/>
                </a:lnTo>
                <a:close/>
              </a:path>
            </a:pathLst>
          </a:custGeom>
          <a:blipFill>
            <a:blip r:embed="rId8"/>
            <a:stretch>
              <a:fillRect t="-1512" b="-2413"/>
            </a:stretch>
          </a:blipFill>
        </p:spPr>
        <p:txBody>
          <a:bodyPr/>
          <a:lstStyle/>
          <a:p>
            <a:endParaRPr lang="en-IN"/>
          </a:p>
        </p:txBody>
      </p:sp>
      <p:sp>
        <p:nvSpPr>
          <p:cNvPr id="15" name="TextBox 15"/>
          <p:cNvSpPr txBox="1"/>
          <p:nvPr/>
        </p:nvSpPr>
        <p:spPr>
          <a:xfrm>
            <a:off x="499436" y="316251"/>
            <a:ext cx="17289128" cy="854075"/>
          </a:xfrm>
          <a:prstGeom prst="rect">
            <a:avLst/>
          </a:prstGeom>
        </p:spPr>
        <p:txBody>
          <a:bodyPr lIns="0" tIns="0" rIns="0" bIns="0" rtlCol="0" anchor="t">
            <a:spAutoFit/>
          </a:bodyPr>
          <a:lstStyle/>
          <a:p>
            <a:pPr marL="0" lvl="0" indent="0" algn="ctr">
              <a:lnSpc>
                <a:spcPts val="7000"/>
              </a:lnSpc>
            </a:pPr>
            <a:r>
              <a:rPr lang="en-US" sz="5000" b="1">
                <a:solidFill>
                  <a:srgbClr val="FFFFFF"/>
                </a:solidFill>
                <a:latin typeface="Arial Nova Bold"/>
                <a:ea typeface="Arial Nova Bold"/>
                <a:cs typeface="Arial Nova Bold"/>
                <a:sym typeface="Arial Nova Bold"/>
              </a:rPr>
              <a:t>GUEST SEGMENTATION  AND DEMOGRAPHIC ANALYSIS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grpSp>
        <p:nvGrpSpPr>
          <p:cNvPr id="8" name="Group 8"/>
          <p:cNvGrpSpPr/>
          <p:nvPr/>
        </p:nvGrpSpPr>
        <p:grpSpPr>
          <a:xfrm>
            <a:off x="1028700" y="1443202"/>
            <a:ext cx="16230600" cy="7815098"/>
            <a:chOff x="0" y="0"/>
            <a:chExt cx="4274726" cy="2058297"/>
          </a:xfrm>
        </p:grpSpPr>
        <p:sp>
          <p:nvSpPr>
            <p:cNvPr id="9" name="Freeform 9"/>
            <p:cNvSpPr/>
            <p:nvPr/>
          </p:nvSpPr>
          <p:spPr>
            <a:xfrm>
              <a:off x="0" y="0"/>
              <a:ext cx="4274726" cy="2058297"/>
            </a:xfrm>
            <a:custGeom>
              <a:avLst/>
              <a:gdLst/>
              <a:ahLst/>
              <a:cxnLst/>
              <a:rect l="l" t="t" r="r" b="b"/>
              <a:pathLst>
                <a:path w="4274726" h="2058297">
                  <a:moveTo>
                    <a:pt x="0" y="0"/>
                  </a:moveTo>
                  <a:lnTo>
                    <a:pt x="4274726" y="0"/>
                  </a:lnTo>
                  <a:lnTo>
                    <a:pt x="4274726" y="2058297"/>
                  </a:lnTo>
                  <a:lnTo>
                    <a:pt x="0" y="2058297"/>
                  </a:lnTo>
                  <a:close/>
                </a:path>
              </a:pathLst>
            </a:custGeom>
            <a:solidFill>
              <a:srgbClr val="036493"/>
            </a:solidFill>
          </p:spPr>
          <p:txBody>
            <a:bodyPr/>
            <a:lstStyle/>
            <a:p>
              <a:endParaRPr lang="en-IN"/>
            </a:p>
          </p:txBody>
        </p:sp>
        <p:sp>
          <p:nvSpPr>
            <p:cNvPr id="10" name="TextBox 10"/>
            <p:cNvSpPr txBox="1"/>
            <p:nvPr/>
          </p:nvSpPr>
          <p:spPr>
            <a:xfrm>
              <a:off x="0" y="-66675"/>
              <a:ext cx="4274726" cy="2124972"/>
            </a:xfrm>
            <a:prstGeom prst="rect">
              <a:avLst/>
            </a:prstGeom>
          </p:spPr>
          <p:txBody>
            <a:bodyPr lIns="50800" tIns="50800" rIns="50800" bIns="50800" rtlCol="0" anchor="ctr"/>
            <a:lstStyle/>
            <a:p>
              <a:pPr algn="ctr">
                <a:lnSpc>
                  <a:spcPts val="3494"/>
                </a:lnSpc>
              </a:pPr>
              <a:endParaRPr/>
            </a:p>
          </p:txBody>
        </p:sp>
      </p:grpSp>
      <p:grpSp>
        <p:nvGrpSpPr>
          <p:cNvPr id="11" name="Group 11"/>
          <p:cNvGrpSpPr/>
          <p:nvPr/>
        </p:nvGrpSpPr>
        <p:grpSpPr>
          <a:xfrm>
            <a:off x="11484756" y="4577888"/>
            <a:ext cx="5326215" cy="2842990"/>
            <a:chOff x="0" y="0"/>
            <a:chExt cx="1402789" cy="748771"/>
          </a:xfrm>
        </p:grpSpPr>
        <p:sp>
          <p:nvSpPr>
            <p:cNvPr id="12" name="Freeform 12"/>
            <p:cNvSpPr/>
            <p:nvPr/>
          </p:nvSpPr>
          <p:spPr>
            <a:xfrm>
              <a:off x="0" y="0"/>
              <a:ext cx="1402789" cy="748771"/>
            </a:xfrm>
            <a:custGeom>
              <a:avLst/>
              <a:gdLst/>
              <a:ahLst/>
              <a:cxnLst/>
              <a:rect l="l" t="t" r="r" b="b"/>
              <a:pathLst>
                <a:path w="1402789" h="748771">
                  <a:moveTo>
                    <a:pt x="0" y="0"/>
                  </a:moveTo>
                  <a:lnTo>
                    <a:pt x="1402789" y="0"/>
                  </a:lnTo>
                  <a:lnTo>
                    <a:pt x="1402789" y="748771"/>
                  </a:lnTo>
                  <a:lnTo>
                    <a:pt x="0" y="748771"/>
                  </a:lnTo>
                  <a:close/>
                </a:path>
              </a:pathLst>
            </a:custGeom>
            <a:solidFill>
              <a:srgbClr val="036493"/>
            </a:solidFill>
          </p:spPr>
          <p:txBody>
            <a:bodyPr/>
            <a:lstStyle/>
            <a:p>
              <a:endParaRPr lang="en-IN"/>
            </a:p>
          </p:txBody>
        </p:sp>
        <p:sp>
          <p:nvSpPr>
            <p:cNvPr id="13" name="TextBox 13"/>
            <p:cNvSpPr txBox="1"/>
            <p:nvPr/>
          </p:nvSpPr>
          <p:spPr>
            <a:xfrm>
              <a:off x="0" y="-66675"/>
              <a:ext cx="1402789" cy="815446"/>
            </a:xfrm>
            <a:prstGeom prst="rect">
              <a:avLst/>
            </a:prstGeom>
          </p:spPr>
          <p:txBody>
            <a:bodyPr lIns="50800" tIns="50800" rIns="50800" bIns="50800" rtlCol="0" anchor="ctr"/>
            <a:lstStyle/>
            <a:p>
              <a:pPr algn="ctr">
                <a:lnSpc>
                  <a:spcPts val="3494"/>
                </a:lnSpc>
              </a:pPr>
              <a:endParaRPr/>
            </a:p>
          </p:txBody>
        </p:sp>
      </p:grpSp>
      <p:sp>
        <p:nvSpPr>
          <p:cNvPr id="14" name="TextBox 14"/>
          <p:cNvSpPr txBox="1"/>
          <p:nvPr/>
        </p:nvSpPr>
        <p:spPr>
          <a:xfrm>
            <a:off x="1028700" y="162085"/>
            <a:ext cx="16230600" cy="1038225"/>
          </a:xfrm>
          <a:prstGeom prst="rect">
            <a:avLst/>
          </a:prstGeom>
        </p:spPr>
        <p:txBody>
          <a:bodyPr lIns="0" tIns="0" rIns="0" bIns="0" rtlCol="0" anchor="t">
            <a:spAutoFit/>
          </a:bodyPr>
          <a:lstStyle/>
          <a:p>
            <a:pPr algn="ctr">
              <a:lnSpc>
                <a:spcPts val="8400"/>
              </a:lnSpc>
            </a:pPr>
            <a:r>
              <a:rPr lang="en-US" sz="6000" b="1">
                <a:solidFill>
                  <a:srgbClr val="FFFFFF"/>
                </a:solidFill>
                <a:latin typeface="Arial Nova Bold"/>
                <a:ea typeface="Arial Nova Bold"/>
                <a:cs typeface="Arial Nova Bold"/>
                <a:sym typeface="Arial Nova Bold"/>
              </a:rPr>
              <a:t>INSIGHTS</a:t>
            </a:r>
          </a:p>
        </p:txBody>
      </p:sp>
      <p:sp>
        <p:nvSpPr>
          <p:cNvPr id="15" name="TextBox 15"/>
          <p:cNvSpPr txBox="1"/>
          <p:nvPr/>
        </p:nvSpPr>
        <p:spPr>
          <a:xfrm>
            <a:off x="1439926" y="1765541"/>
            <a:ext cx="15361711" cy="7122795"/>
          </a:xfrm>
          <a:prstGeom prst="rect">
            <a:avLst/>
          </a:prstGeom>
        </p:spPr>
        <p:txBody>
          <a:bodyPr lIns="0" tIns="0" rIns="0" bIns="0" rtlCol="0" anchor="t">
            <a:spAutoFit/>
          </a:bodyPr>
          <a:lstStyle/>
          <a:p>
            <a:pPr marL="582930" lvl="1" indent="-291465" algn="l">
              <a:lnSpc>
                <a:spcPts val="3779"/>
              </a:lnSpc>
              <a:buFont typeface="Arial"/>
              <a:buChar char="•"/>
            </a:pPr>
            <a:r>
              <a:rPr lang="en-US" sz="2700" b="1" u="none" strike="noStrike">
                <a:solidFill>
                  <a:srgbClr val="FF914D"/>
                </a:solidFill>
                <a:latin typeface="Arial Nova Bold"/>
                <a:ea typeface="Arial Nova Bold"/>
                <a:cs typeface="Arial Nova Bold"/>
                <a:sym typeface="Arial Nova Bold"/>
              </a:rPr>
              <a:t>Guest Dynamics:</a:t>
            </a:r>
          </a:p>
          <a:p>
            <a:pPr marL="1165860" lvl="2" indent="-388620" algn="l">
              <a:lnSpc>
                <a:spcPts val="3779"/>
              </a:lnSpc>
              <a:buFont typeface="Arial"/>
              <a:buChar char="⚬"/>
            </a:pPr>
            <a:r>
              <a:rPr lang="en-US" sz="2700" b="1" u="none" strike="noStrike">
                <a:solidFill>
                  <a:srgbClr val="FFFFFF"/>
                </a:solidFill>
                <a:latin typeface="Arial Nova Bold"/>
                <a:ea typeface="Arial Nova Bold"/>
                <a:cs typeface="Arial Nova Bold"/>
                <a:sym typeface="Arial Nova Bold"/>
              </a:rPr>
              <a:t>Volume Driver:</a:t>
            </a:r>
            <a:r>
              <a:rPr lang="en-US" sz="2700" u="none" strike="noStrike">
                <a:solidFill>
                  <a:srgbClr val="FFFFFF"/>
                </a:solidFill>
                <a:latin typeface="Arial Nova"/>
                <a:ea typeface="Arial Nova"/>
                <a:cs typeface="Arial Nova"/>
                <a:sym typeface="Arial Nova"/>
              </a:rPr>
              <a:t> Solo travelers are the dominant segment across all nationalities.</a:t>
            </a:r>
          </a:p>
          <a:p>
            <a:pPr marL="1165860" lvl="2" indent="-388620" algn="l">
              <a:lnSpc>
                <a:spcPts val="3779"/>
              </a:lnSpc>
              <a:buFont typeface="Arial"/>
              <a:buChar char="⚬"/>
            </a:pPr>
            <a:r>
              <a:rPr lang="en-US" sz="2700" u="none" strike="noStrike">
                <a:solidFill>
                  <a:srgbClr val="FFFFFF"/>
                </a:solidFill>
                <a:latin typeface="Arial Nova"/>
                <a:ea typeface="Arial Nova"/>
                <a:cs typeface="Arial Nova"/>
                <a:sym typeface="Arial Nova"/>
              </a:rPr>
              <a:t>Family &amp; Corporate guests stay significantly longer (Avg. 5.5 nights) compared to Solo travelers (3.4 nights).</a:t>
            </a:r>
          </a:p>
          <a:p>
            <a:pPr marL="0" lvl="0" indent="0" algn="l">
              <a:lnSpc>
                <a:spcPts val="3779"/>
              </a:lnSpc>
            </a:pPr>
            <a:endParaRPr lang="en-US" sz="2700" u="none" strike="noStrike">
              <a:solidFill>
                <a:srgbClr val="FFFFFF"/>
              </a:solidFill>
              <a:latin typeface="Arial Nova"/>
              <a:ea typeface="Arial Nova"/>
              <a:cs typeface="Arial Nova"/>
              <a:sym typeface="Arial Nova"/>
            </a:endParaRPr>
          </a:p>
          <a:p>
            <a:pPr marL="582930" lvl="1" indent="-291465" algn="l">
              <a:lnSpc>
                <a:spcPts val="3779"/>
              </a:lnSpc>
              <a:buFont typeface="Arial"/>
              <a:buChar char="•"/>
            </a:pPr>
            <a:r>
              <a:rPr lang="en-US" sz="2700" b="1" u="none" strike="noStrike">
                <a:solidFill>
                  <a:srgbClr val="FF914D"/>
                </a:solidFill>
                <a:latin typeface="Arial Nova Bold"/>
                <a:ea typeface="Arial Nova Bold"/>
                <a:cs typeface="Arial Nova Bold"/>
                <a:sym typeface="Arial Nova Bold"/>
              </a:rPr>
              <a:t>Customer Composition:</a:t>
            </a:r>
          </a:p>
          <a:p>
            <a:pPr marL="1165860" lvl="2" indent="-388620" algn="l">
              <a:lnSpc>
                <a:spcPts val="3779"/>
              </a:lnSpc>
              <a:buFont typeface="Arial"/>
              <a:buChar char="⚬"/>
            </a:pPr>
            <a:r>
              <a:rPr lang="en-US" sz="2700" b="1" u="none" strike="noStrike">
                <a:solidFill>
                  <a:srgbClr val="FFFFFF"/>
                </a:solidFill>
                <a:latin typeface="Arial Nova Bold"/>
                <a:ea typeface="Arial Nova Bold"/>
                <a:cs typeface="Arial Nova Bold"/>
                <a:sym typeface="Arial Nova Bold"/>
              </a:rPr>
              <a:t>High Retention:</a:t>
            </a:r>
            <a:r>
              <a:rPr lang="en-US" sz="2700" u="none" strike="noStrike">
                <a:solidFill>
                  <a:srgbClr val="FFFFFF"/>
                </a:solidFill>
                <a:latin typeface="Arial Nova"/>
                <a:ea typeface="Arial Nova"/>
                <a:cs typeface="Arial Nova"/>
                <a:sym typeface="Arial Nova"/>
              </a:rPr>
              <a:t> 63% of bookings come from "High Spenders" and 35% from "Loyal Guests."</a:t>
            </a:r>
          </a:p>
          <a:p>
            <a:pPr marL="1165860" lvl="2" indent="-388620" algn="l">
              <a:lnSpc>
                <a:spcPts val="3779"/>
              </a:lnSpc>
              <a:buFont typeface="Arial"/>
              <a:buChar char="⚬"/>
            </a:pPr>
            <a:r>
              <a:rPr lang="en-US" sz="2700" b="1" u="none" strike="noStrike">
                <a:solidFill>
                  <a:srgbClr val="FFFFFF"/>
                </a:solidFill>
                <a:latin typeface="Arial Nova Bold"/>
                <a:ea typeface="Arial Nova Bold"/>
                <a:cs typeface="Arial Nova Bold"/>
                <a:sym typeface="Arial Nova Bold"/>
              </a:rPr>
              <a:t>Acquisition Gap:</a:t>
            </a:r>
            <a:r>
              <a:rPr lang="en-US" sz="2700" u="none" strike="noStrike">
                <a:solidFill>
                  <a:srgbClr val="FFFFFF"/>
                </a:solidFill>
                <a:latin typeface="Arial Nova"/>
                <a:ea typeface="Arial Nova"/>
                <a:cs typeface="Arial Nova"/>
                <a:sym typeface="Arial Nova"/>
              </a:rPr>
              <a:t> "First-Timer" bookings are negligible (&lt;2%), indicating a critical need for new customer acquisition strategies.</a:t>
            </a:r>
          </a:p>
          <a:p>
            <a:pPr algn="l">
              <a:lnSpc>
                <a:spcPts val="3779"/>
              </a:lnSpc>
            </a:pPr>
            <a:endParaRPr lang="en-US" sz="2700" u="none" strike="noStrike">
              <a:solidFill>
                <a:srgbClr val="FFFFFF"/>
              </a:solidFill>
              <a:latin typeface="Arial Nova"/>
              <a:ea typeface="Arial Nova"/>
              <a:cs typeface="Arial Nova"/>
              <a:sym typeface="Arial Nova"/>
            </a:endParaRPr>
          </a:p>
          <a:p>
            <a:pPr marL="582930" lvl="1" indent="-291465" algn="l">
              <a:lnSpc>
                <a:spcPts val="3779"/>
              </a:lnSpc>
              <a:buFont typeface="Arial"/>
              <a:buChar char="•"/>
            </a:pPr>
            <a:r>
              <a:rPr lang="en-US" sz="2700" b="1" u="none" strike="noStrike">
                <a:solidFill>
                  <a:srgbClr val="FF914D"/>
                </a:solidFill>
                <a:latin typeface="Arial Nova Bold"/>
                <a:ea typeface="Arial Nova Bold"/>
                <a:cs typeface="Arial Nova Bold"/>
                <a:sym typeface="Arial Nova Bold"/>
              </a:rPr>
              <a:t>Payments and Top Locations:</a:t>
            </a:r>
          </a:p>
          <a:p>
            <a:pPr marL="1165860" lvl="2" indent="-388620" algn="l">
              <a:lnSpc>
                <a:spcPts val="3779"/>
              </a:lnSpc>
              <a:buFont typeface="Arial"/>
              <a:buChar char="⚬"/>
            </a:pPr>
            <a:r>
              <a:rPr lang="en-US" sz="2700" b="1" u="none" strike="noStrike">
                <a:solidFill>
                  <a:srgbClr val="FFFFFF"/>
                </a:solidFill>
                <a:latin typeface="Arial Nova Bold"/>
                <a:ea typeface="Arial Nova Bold"/>
                <a:cs typeface="Arial Nova Bold"/>
                <a:sym typeface="Arial Nova Bold"/>
              </a:rPr>
              <a:t>Payment Equality:</a:t>
            </a:r>
            <a:r>
              <a:rPr lang="en-US" sz="2700" u="none" strike="noStrike">
                <a:solidFill>
                  <a:srgbClr val="FFFFFF"/>
                </a:solidFill>
                <a:latin typeface="Arial Nova"/>
                <a:ea typeface="Arial Nova"/>
                <a:cs typeface="Arial Nova"/>
                <a:sym typeface="Arial Nova"/>
              </a:rPr>
              <a:t> Revenue is evenly distributed (~20% each) across all 5 payment methods (Cash, Card, UPI, Wallet), showing flexible payment adoption.</a:t>
            </a:r>
          </a:p>
          <a:p>
            <a:pPr marL="1165860" lvl="2" indent="-388620" algn="l">
              <a:lnSpc>
                <a:spcPts val="3779"/>
              </a:lnSpc>
              <a:buFont typeface="Arial"/>
              <a:buChar char="⚬"/>
            </a:pPr>
            <a:r>
              <a:rPr lang="en-US" sz="2700" b="1" u="none" strike="noStrike">
                <a:solidFill>
                  <a:srgbClr val="FFFFFF"/>
                </a:solidFill>
                <a:latin typeface="Arial Nova Bold"/>
                <a:ea typeface="Arial Nova Bold"/>
                <a:cs typeface="Arial Nova Bold"/>
                <a:sym typeface="Arial Nova Bold"/>
              </a:rPr>
              <a:t>Key Markets:</a:t>
            </a:r>
            <a:r>
              <a:rPr lang="en-US" sz="2700" u="none" strike="noStrike">
                <a:solidFill>
                  <a:srgbClr val="FFFFFF"/>
                </a:solidFill>
                <a:latin typeface="Arial Nova"/>
                <a:ea typeface="Arial Nova"/>
                <a:cs typeface="Arial Nova"/>
                <a:sym typeface="Arial Nova"/>
              </a:rPr>
              <a:t> USA, UK, and Turkey are the top geographic sources for Family (Adult + Child) bookings.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sp>
        <p:nvSpPr>
          <p:cNvPr id="8" name="Freeform 8"/>
          <p:cNvSpPr/>
          <p:nvPr/>
        </p:nvSpPr>
        <p:spPr>
          <a:xfrm>
            <a:off x="520162" y="1303351"/>
            <a:ext cx="10829797" cy="7445485"/>
          </a:xfrm>
          <a:custGeom>
            <a:avLst/>
            <a:gdLst/>
            <a:ahLst/>
            <a:cxnLst/>
            <a:rect l="l" t="t" r="r" b="b"/>
            <a:pathLst>
              <a:path w="10829797" h="7445485">
                <a:moveTo>
                  <a:pt x="0" y="0"/>
                </a:moveTo>
                <a:lnTo>
                  <a:pt x="10829796" y="0"/>
                </a:lnTo>
                <a:lnTo>
                  <a:pt x="10829796" y="7445486"/>
                </a:lnTo>
                <a:lnTo>
                  <a:pt x="0" y="7445486"/>
                </a:lnTo>
                <a:lnTo>
                  <a:pt x="0" y="0"/>
                </a:lnTo>
                <a:close/>
              </a:path>
            </a:pathLst>
          </a:custGeom>
          <a:blipFill>
            <a:blip r:embed="rId2"/>
            <a:stretch>
              <a:fillRect/>
            </a:stretch>
          </a:blipFill>
        </p:spPr>
        <p:txBody>
          <a:bodyPr/>
          <a:lstStyle/>
          <a:p>
            <a:endParaRPr lang="en-IN"/>
          </a:p>
        </p:txBody>
      </p:sp>
      <p:grpSp>
        <p:nvGrpSpPr>
          <p:cNvPr id="9" name="Group 9"/>
          <p:cNvGrpSpPr/>
          <p:nvPr/>
        </p:nvGrpSpPr>
        <p:grpSpPr>
          <a:xfrm>
            <a:off x="11476824" y="1302176"/>
            <a:ext cx="6291014" cy="7445485"/>
            <a:chOff x="0" y="0"/>
            <a:chExt cx="1656893" cy="1989017"/>
          </a:xfrm>
        </p:grpSpPr>
        <p:sp>
          <p:nvSpPr>
            <p:cNvPr id="10" name="Freeform 10"/>
            <p:cNvSpPr/>
            <p:nvPr/>
          </p:nvSpPr>
          <p:spPr>
            <a:xfrm>
              <a:off x="0" y="0"/>
              <a:ext cx="1656892" cy="1989017"/>
            </a:xfrm>
            <a:custGeom>
              <a:avLst/>
              <a:gdLst/>
              <a:ahLst/>
              <a:cxnLst/>
              <a:rect l="l" t="t" r="r" b="b"/>
              <a:pathLst>
                <a:path w="1656892" h="1989017">
                  <a:moveTo>
                    <a:pt x="0" y="0"/>
                  </a:moveTo>
                  <a:lnTo>
                    <a:pt x="1656892" y="0"/>
                  </a:lnTo>
                  <a:lnTo>
                    <a:pt x="1656892" y="1989017"/>
                  </a:lnTo>
                  <a:lnTo>
                    <a:pt x="0" y="1989017"/>
                  </a:lnTo>
                  <a:close/>
                </a:path>
              </a:pathLst>
            </a:custGeom>
            <a:solidFill>
              <a:srgbClr val="036493"/>
            </a:solidFill>
          </p:spPr>
          <p:txBody>
            <a:bodyPr/>
            <a:lstStyle/>
            <a:p>
              <a:endParaRPr lang="en-IN"/>
            </a:p>
          </p:txBody>
        </p:sp>
        <p:sp>
          <p:nvSpPr>
            <p:cNvPr id="11" name="TextBox 11"/>
            <p:cNvSpPr txBox="1"/>
            <p:nvPr/>
          </p:nvSpPr>
          <p:spPr>
            <a:xfrm>
              <a:off x="0" y="-66675"/>
              <a:ext cx="1656893" cy="2055692"/>
            </a:xfrm>
            <a:prstGeom prst="rect">
              <a:avLst/>
            </a:prstGeom>
          </p:spPr>
          <p:txBody>
            <a:bodyPr lIns="50800" tIns="50800" rIns="50800" bIns="50800" rtlCol="0" anchor="ctr"/>
            <a:lstStyle/>
            <a:p>
              <a:pPr algn="ctr">
                <a:lnSpc>
                  <a:spcPts val="3494"/>
                </a:lnSpc>
              </a:pPr>
              <a:endParaRPr/>
            </a:p>
          </p:txBody>
        </p:sp>
      </p:grpSp>
      <p:sp>
        <p:nvSpPr>
          <p:cNvPr id="12" name="Freeform 12"/>
          <p:cNvSpPr/>
          <p:nvPr/>
        </p:nvSpPr>
        <p:spPr>
          <a:xfrm>
            <a:off x="7874279" y="5625045"/>
            <a:ext cx="2003614" cy="2278506"/>
          </a:xfrm>
          <a:custGeom>
            <a:avLst/>
            <a:gdLst/>
            <a:ahLst/>
            <a:cxnLst/>
            <a:rect l="l" t="t" r="r" b="b"/>
            <a:pathLst>
              <a:path w="2003614" h="2278506">
                <a:moveTo>
                  <a:pt x="0" y="0"/>
                </a:moveTo>
                <a:lnTo>
                  <a:pt x="2003614" y="0"/>
                </a:lnTo>
                <a:lnTo>
                  <a:pt x="2003614" y="2278506"/>
                </a:lnTo>
                <a:lnTo>
                  <a:pt x="0" y="2278506"/>
                </a:lnTo>
                <a:lnTo>
                  <a:pt x="0" y="0"/>
                </a:lnTo>
                <a:close/>
              </a:path>
            </a:pathLst>
          </a:custGeom>
          <a:blipFill>
            <a:blip r:embed="rId3"/>
            <a:stretch>
              <a:fillRect l="-4987" t="-3139" b="-3628"/>
            </a:stretch>
          </a:blipFill>
        </p:spPr>
        <p:txBody>
          <a:bodyPr/>
          <a:lstStyle/>
          <a:p>
            <a:endParaRPr lang="en-IN"/>
          </a:p>
        </p:txBody>
      </p:sp>
      <p:sp>
        <p:nvSpPr>
          <p:cNvPr id="13" name="TextBox 13"/>
          <p:cNvSpPr txBox="1"/>
          <p:nvPr/>
        </p:nvSpPr>
        <p:spPr>
          <a:xfrm>
            <a:off x="520162" y="310369"/>
            <a:ext cx="17247677" cy="854075"/>
          </a:xfrm>
          <a:prstGeom prst="rect">
            <a:avLst/>
          </a:prstGeom>
        </p:spPr>
        <p:txBody>
          <a:bodyPr lIns="0" tIns="0" rIns="0" bIns="0" rtlCol="0" anchor="t">
            <a:spAutoFit/>
          </a:bodyPr>
          <a:lstStyle/>
          <a:p>
            <a:pPr marL="0" lvl="0" indent="0" algn="ctr">
              <a:lnSpc>
                <a:spcPts val="7000"/>
              </a:lnSpc>
            </a:pPr>
            <a:r>
              <a:rPr lang="en-US" sz="5000" b="1">
                <a:solidFill>
                  <a:srgbClr val="FFFFFF"/>
                </a:solidFill>
                <a:latin typeface="Arial Nova Bold"/>
                <a:ea typeface="Arial Nova Bold"/>
                <a:cs typeface="Arial Nova Bold"/>
                <a:sym typeface="Arial Nova Bold"/>
              </a:rPr>
              <a:t>GUEST SEGMENTATION  AND DEMOGRAPHIC ANALYSIS</a:t>
            </a:r>
          </a:p>
        </p:txBody>
      </p:sp>
      <p:sp>
        <p:nvSpPr>
          <p:cNvPr id="14" name="TextBox 14"/>
          <p:cNvSpPr txBox="1"/>
          <p:nvPr/>
        </p:nvSpPr>
        <p:spPr>
          <a:xfrm>
            <a:off x="11620106" y="1553999"/>
            <a:ext cx="6004446" cy="6941837"/>
          </a:xfrm>
          <a:prstGeom prst="rect">
            <a:avLst/>
          </a:prstGeom>
        </p:spPr>
        <p:txBody>
          <a:bodyPr lIns="0" tIns="0" rIns="0" bIns="0" rtlCol="0" anchor="t">
            <a:spAutoFit/>
          </a:bodyPr>
          <a:lstStyle/>
          <a:p>
            <a:pPr marL="453388" lvl="1" indent="-226694" algn="just">
              <a:lnSpc>
                <a:spcPts val="2939"/>
              </a:lnSpc>
              <a:buFont typeface="Arial"/>
              <a:buChar char="•"/>
            </a:pPr>
            <a:r>
              <a:rPr lang="en-US" sz="2400" b="1" dirty="0">
                <a:solidFill>
                  <a:srgbClr val="FF914D"/>
                </a:solidFill>
                <a:latin typeface="Arial Nova" panose="020B0504020202020204" pitchFamily="34" charset="0"/>
                <a:ea typeface="Arial Nova Bold"/>
                <a:cs typeface="Arial Nova Bold"/>
                <a:sym typeface="Arial Nova Bold"/>
              </a:rPr>
              <a:t>Visual Overview</a:t>
            </a:r>
          </a:p>
          <a:p>
            <a:pPr marL="820419" lvl="2" indent="-273473" algn="just">
              <a:lnSpc>
                <a:spcPts val="2659"/>
              </a:lnSpc>
              <a:buFont typeface="Arial"/>
              <a:buChar char="⚬"/>
            </a:pPr>
            <a:r>
              <a:rPr lang="en-US" sz="2000" dirty="0">
                <a:solidFill>
                  <a:srgbClr val="FFFFFF"/>
                </a:solidFill>
                <a:latin typeface="Arial Nova" panose="020B0504020202020204" pitchFamily="34" charset="0"/>
                <a:ea typeface="Arial Nova"/>
                <a:cs typeface="Arial Nova"/>
                <a:sym typeface="Arial Nova"/>
              </a:rPr>
              <a:t>The chart maps Spend Score (X-Axis) against Frequency Score (Y-Axis).</a:t>
            </a:r>
          </a:p>
          <a:p>
            <a:pPr algn="just">
              <a:lnSpc>
                <a:spcPts val="2659"/>
              </a:lnSpc>
            </a:pPr>
            <a:endParaRPr lang="en-US" sz="2000" dirty="0">
              <a:solidFill>
                <a:srgbClr val="FFFFFF"/>
              </a:solidFill>
              <a:latin typeface="Arial Nova" panose="020B0504020202020204" pitchFamily="34" charset="0"/>
              <a:ea typeface="Arial Nova"/>
              <a:cs typeface="Arial Nova"/>
              <a:sym typeface="Arial Nova"/>
            </a:endParaRPr>
          </a:p>
          <a:p>
            <a:pPr marL="820419" lvl="2" indent="-273473" algn="just">
              <a:lnSpc>
                <a:spcPts val="2659"/>
              </a:lnSpc>
              <a:buFont typeface="Arial"/>
              <a:buChar char="⚬"/>
            </a:pPr>
            <a:r>
              <a:rPr lang="en-US" sz="2000" dirty="0">
                <a:solidFill>
                  <a:srgbClr val="FFFFFF"/>
                </a:solidFill>
                <a:latin typeface="Arial Nova" panose="020B0504020202020204" pitchFamily="34" charset="0"/>
                <a:ea typeface="Arial Nova"/>
                <a:cs typeface="Arial Nova"/>
                <a:sym typeface="Arial Nova"/>
              </a:rPr>
              <a:t>It reveals a near-perfect linear relationship: </a:t>
            </a:r>
          </a:p>
          <a:p>
            <a:pPr algn="just">
              <a:lnSpc>
                <a:spcPts val="2659"/>
              </a:lnSpc>
            </a:pPr>
            <a:r>
              <a:rPr lang="en-US" sz="2000" dirty="0">
                <a:solidFill>
                  <a:srgbClr val="FFFFFF"/>
                </a:solidFill>
                <a:latin typeface="Arial Nova" panose="020B0504020202020204" pitchFamily="34" charset="0"/>
                <a:ea typeface="Arial Nova"/>
                <a:cs typeface="Arial Nova"/>
                <a:sym typeface="Arial Nova"/>
              </a:rPr>
              <a:t>             </a:t>
            </a:r>
            <a:r>
              <a:rPr lang="en-US" sz="2000" b="1" dirty="0">
                <a:solidFill>
                  <a:srgbClr val="FFFFFF"/>
                </a:solidFill>
                <a:latin typeface="Arial Nova" panose="020B0504020202020204" pitchFamily="34" charset="0"/>
                <a:ea typeface="Arial Nova Bold"/>
                <a:cs typeface="Arial Nova Bold"/>
                <a:sym typeface="Arial Nova Bold"/>
              </a:rPr>
              <a:t>Higher Frequency = Higher Total Spend</a:t>
            </a:r>
          </a:p>
          <a:p>
            <a:pPr algn="just">
              <a:lnSpc>
                <a:spcPts val="2659"/>
              </a:lnSpc>
            </a:pPr>
            <a:endParaRPr lang="en-US" sz="2000" b="1" dirty="0">
              <a:solidFill>
                <a:srgbClr val="FFFFFF"/>
              </a:solidFill>
              <a:latin typeface="Arial Nova" panose="020B0504020202020204" pitchFamily="34" charset="0"/>
              <a:ea typeface="Arial Nova Bold"/>
              <a:cs typeface="Arial Nova Bold"/>
              <a:sym typeface="Arial Nova Bold"/>
            </a:endParaRPr>
          </a:p>
          <a:p>
            <a:pPr marL="453388" lvl="1" indent="-226694" algn="just">
              <a:lnSpc>
                <a:spcPts val="2939"/>
              </a:lnSpc>
              <a:buFont typeface="Arial"/>
              <a:buChar char="•"/>
            </a:pPr>
            <a:r>
              <a:rPr lang="en-US" sz="2400" b="1" dirty="0">
                <a:solidFill>
                  <a:srgbClr val="FF914D"/>
                </a:solidFill>
                <a:latin typeface="Arial Nova" panose="020B0504020202020204" pitchFamily="34" charset="0"/>
                <a:ea typeface="Arial Nova Bold"/>
                <a:cs typeface="Arial Nova Bold"/>
                <a:sym typeface="Arial Nova Bold"/>
              </a:rPr>
              <a:t>Key Performance Insights</a:t>
            </a:r>
          </a:p>
          <a:p>
            <a:pPr marL="820419" lvl="2" indent="-273473" algn="just">
              <a:lnSpc>
                <a:spcPts val="2659"/>
              </a:lnSpc>
              <a:buFont typeface="Arial"/>
              <a:buChar char="⚬"/>
            </a:pPr>
            <a:r>
              <a:rPr lang="en-US" sz="2000" b="1" dirty="0">
                <a:solidFill>
                  <a:srgbClr val="FFFFFF"/>
                </a:solidFill>
                <a:latin typeface="Arial Nova" panose="020B0504020202020204" pitchFamily="34" charset="0"/>
                <a:ea typeface="Arial Nova Bold"/>
                <a:cs typeface="Arial Nova Bold"/>
                <a:sym typeface="Arial Nova Bold"/>
              </a:rPr>
              <a:t>Volume-Driven Revenue:</a:t>
            </a:r>
            <a:r>
              <a:rPr lang="en-US" sz="2000" dirty="0">
                <a:solidFill>
                  <a:srgbClr val="FFFFFF"/>
                </a:solidFill>
                <a:latin typeface="Arial Nova" panose="020B0504020202020204" pitchFamily="34" charset="0"/>
                <a:ea typeface="Arial Nova"/>
                <a:cs typeface="Arial Nova"/>
                <a:sym typeface="Arial Nova"/>
              </a:rPr>
              <a:t> There are no "one-time big spenders"; the highest spenders are simply the most frequent visitors.</a:t>
            </a:r>
          </a:p>
          <a:p>
            <a:pPr algn="just">
              <a:lnSpc>
                <a:spcPts val="2659"/>
              </a:lnSpc>
            </a:pPr>
            <a:endParaRPr lang="en-US" sz="2000" dirty="0">
              <a:solidFill>
                <a:srgbClr val="FFFFFF"/>
              </a:solidFill>
              <a:latin typeface="Arial Nova" panose="020B0504020202020204" pitchFamily="34" charset="0"/>
              <a:ea typeface="Arial Nova"/>
              <a:cs typeface="Arial Nova"/>
              <a:sym typeface="Arial Nova"/>
            </a:endParaRPr>
          </a:p>
          <a:p>
            <a:pPr marL="820419" lvl="2" indent="-273473" algn="just">
              <a:lnSpc>
                <a:spcPts val="2659"/>
              </a:lnSpc>
              <a:buFont typeface="Arial"/>
              <a:buChar char="⚬"/>
            </a:pPr>
            <a:r>
              <a:rPr lang="en-US" sz="2000" b="1" dirty="0">
                <a:solidFill>
                  <a:srgbClr val="FFFFFF"/>
                </a:solidFill>
                <a:latin typeface="Arial Nova" panose="020B0504020202020204" pitchFamily="34" charset="0"/>
                <a:ea typeface="Arial Nova Bold"/>
                <a:cs typeface="Arial Nova Bold"/>
                <a:sym typeface="Arial Nova Bold"/>
              </a:rPr>
              <a:t>The "Elite" Tier:</a:t>
            </a:r>
            <a:r>
              <a:rPr lang="en-US" sz="2000" dirty="0">
                <a:solidFill>
                  <a:srgbClr val="FFFFFF"/>
                </a:solidFill>
                <a:latin typeface="Arial Nova" panose="020B0504020202020204" pitchFamily="34" charset="0"/>
                <a:ea typeface="Arial Nova"/>
                <a:cs typeface="Arial Nova"/>
                <a:sym typeface="Arial Nova"/>
              </a:rPr>
              <a:t> The High Spender cluster (Dark Blue) outperforms "Loyal Guests" in both visit count and total revenue.</a:t>
            </a:r>
          </a:p>
          <a:p>
            <a:pPr algn="just">
              <a:lnSpc>
                <a:spcPts val="2659"/>
              </a:lnSpc>
            </a:pPr>
            <a:endParaRPr lang="en-US" sz="2000" dirty="0">
              <a:solidFill>
                <a:srgbClr val="FFFFFF"/>
              </a:solidFill>
              <a:latin typeface="Arial Nova" panose="020B0504020202020204" pitchFamily="34" charset="0"/>
              <a:ea typeface="Arial Nova"/>
              <a:cs typeface="Arial Nova"/>
              <a:sym typeface="Arial Nova"/>
            </a:endParaRPr>
          </a:p>
          <a:p>
            <a:pPr marL="820419" lvl="2" indent="-273473" algn="just">
              <a:lnSpc>
                <a:spcPts val="2659"/>
              </a:lnSpc>
              <a:spcBef>
                <a:spcPct val="0"/>
              </a:spcBef>
              <a:buFont typeface="Arial"/>
              <a:buChar char="⚬"/>
            </a:pPr>
            <a:r>
              <a:rPr lang="en-US" sz="2000" b="1" dirty="0">
                <a:solidFill>
                  <a:srgbClr val="FFFFFF"/>
                </a:solidFill>
                <a:latin typeface="Arial Nova" panose="020B0504020202020204" pitchFamily="34" charset="0"/>
                <a:ea typeface="Arial Nova Bold"/>
                <a:cs typeface="Arial Nova Bold"/>
                <a:sym typeface="Arial Nova Bold"/>
              </a:rPr>
              <a:t>The "Other" Bottleneck:</a:t>
            </a:r>
            <a:r>
              <a:rPr lang="en-US" sz="2000" dirty="0">
                <a:solidFill>
                  <a:srgbClr val="FFFFFF"/>
                </a:solidFill>
                <a:latin typeface="Arial Nova" panose="020B0504020202020204" pitchFamily="34" charset="0"/>
                <a:ea typeface="Arial Nova"/>
                <a:cs typeface="Arial Nova"/>
                <a:sym typeface="Arial Nova"/>
              </a:rPr>
              <a:t> A massive density of low-value guests (Purple) sits at the bottom-left (&lt;0.5M Spend). These guests visit rarely and spend little.</a:t>
            </a:r>
          </a:p>
        </p:txBody>
      </p:sp>
      <p:sp>
        <p:nvSpPr>
          <p:cNvPr id="15" name="TextBox 15"/>
          <p:cNvSpPr txBox="1"/>
          <p:nvPr/>
        </p:nvSpPr>
        <p:spPr>
          <a:xfrm>
            <a:off x="1669941" y="8807775"/>
            <a:ext cx="7936168" cy="701675"/>
          </a:xfrm>
          <a:prstGeom prst="rect">
            <a:avLst/>
          </a:prstGeom>
        </p:spPr>
        <p:txBody>
          <a:bodyPr lIns="0" tIns="0" rIns="0" bIns="0" rtlCol="0" anchor="t">
            <a:spAutoFit/>
          </a:bodyPr>
          <a:lstStyle/>
          <a:p>
            <a:pPr algn="ctr">
              <a:lnSpc>
                <a:spcPts val="2800"/>
              </a:lnSpc>
              <a:spcBef>
                <a:spcPct val="0"/>
              </a:spcBef>
            </a:pPr>
            <a:r>
              <a:rPr lang="en-US" sz="2000" b="1" i="1">
                <a:solidFill>
                  <a:srgbClr val="2EC4B6"/>
                </a:solidFill>
                <a:latin typeface="Arial Nova Bold Italics"/>
                <a:ea typeface="Arial Nova Bold Italics"/>
                <a:cs typeface="Arial Nova Bold Italics"/>
                <a:sym typeface="Arial Nova Bold Italics"/>
              </a:rPr>
              <a:t>High Spenders significantly outperforms Loyal Guests in</a:t>
            </a:r>
          </a:p>
          <a:p>
            <a:pPr algn="ctr">
              <a:lnSpc>
                <a:spcPts val="2800"/>
              </a:lnSpc>
              <a:spcBef>
                <a:spcPct val="0"/>
              </a:spcBef>
            </a:pPr>
            <a:r>
              <a:rPr lang="en-US" sz="2000" b="1" i="1">
                <a:solidFill>
                  <a:srgbClr val="2EC4B6"/>
                </a:solidFill>
                <a:latin typeface="Arial Nova Bold Italics"/>
                <a:ea typeface="Arial Nova Bold Italics"/>
                <a:cs typeface="Arial Nova Bold Italics"/>
                <a:sym typeface="Arial Nova Bold Italics"/>
              </a:rPr>
              <a:t>both visit frequency and total spend.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sp>
        <p:nvSpPr>
          <p:cNvPr id="8" name="TextBox 8"/>
          <p:cNvSpPr txBox="1"/>
          <p:nvPr/>
        </p:nvSpPr>
        <p:spPr>
          <a:xfrm>
            <a:off x="556171" y="374966"/>
            <a:ext cx="17141518" cy="821055"/>
          </a:xfrm>
          <a:prstGeom prst="rect">
            <a:avLst/>
          </a:prstGeom>
        </p:spPr>
        <p:txBody>
          <a:bodyPr lIns="0" tIns="0" rIns="0" bIns="0" rtlCol="0" anchor="t">
            <a:spAutoFit/>
          </a:bodyPr>
          <a:lstStyle/>
          <a:p>
            <a:pPr algn="ctr">
              <a:lnSpc>
                <a:spcPts val="6719"/>
              </a:lnSpc>
            </a:pPr>
            <a:r>
              <a:rPr lang="en-US" sz="4800" b="1">
                <a:solidFill>
                  <a:srgbClr val="FFFFFF"/>
                </a:solidFill>
                <a:latin typeface="Arial Nova Bold"/>
                <a:ea typeface="Arial Nova Bold"/>
                <a:cs typeface="Arial Nova Bold"/>
                <a:sym typeface="Arial Nova Bold"/>
              </a:rPr>
              <a:t>MODULE 4: FORECASTING AND CANCELLATION TRENDS</a:t>
            </a:r>
          </a:p>
        </p:txBody>
      </p:sp>
      <p:grpSp>
        <p:nvGrpSpPr>
          <p:cNvPr id="9" name="Group 9"/>
          <p:cNvGrpSpPr/>
          <p:nvPr/>
        </p:nvGrpSpPr>
        <p:grpSpPr>
          <a:xfrm>
            <a:off x="556171" y="1516061"/>
            <a:ext cx="17141518" cy="7924800"/>
            <a:chOff x="0" y="0"/>
            <a:chExt cx="4514638" cy="2087190"/>
          </a:xfrm>
        </p:grpSpPr>
        <p:sp>
          <p:nvSpPr>
            <p:cNvPr id="10" name="Freeform 10"/>
            <p:cNvSpPr/>
            <p:nvPr/>
          </p:nvSpPr>
          <p:spPr>
            <a:xfrm>
              <a:off x="0" y="0"/>
              <a:ext cx="4514638" cy="2087190"/>
            </a:xfrm>
            <a:custGeom>
              <a:avLst/>
              <a:gdLst/>
              <a:ahLst/>
              <a:cxnLst/>
              <a:rect l="l" t="t" r="r" b="b"/>
              <a:pathLst>
                <a:path w="4514638" h="2087190">
                  <a:moveTo>
                    <a:pt x="0" y="0"/>
                  </a:moveTo>
                  <a:lnTo>
                    <a:pt x="4514638" y="0"/>
                  </a:lnTo>
                  <a:lnTo>
                    <a:pt x="4514638" y="2087190"/>
                  </a:lnTo>
                  <a:lnTo>
                    <a:pt x="0" y="2087190"/>
                  </a:lnTo>
                  <a:close/>
                </a:path>
              </a:pathLst>
            </a:custGeom>
            <a:solidFill>
              <a:srgbClr val="036493"/>
            </a:solidFill>
          </p:spPr>
          <p:txBody>
            <a:bodyPr/>
            <a:lstStyle/>
            <a:p>
              <a:endParaRPr lang="en-IN"/>
            </a:p>
          </p:txBody>
        </p:sp>
        <p:sp>
          <p:nvSpPr>
            <p:cNvPr id="11" name="TextBox 11"/>
            <p:cNvSpPr txBox="1"/>
            <p:nvPr/>
          </p:nvSpPr>
          <p:spPr>
            <a:xfrm>
              <a:off x="0" y="-66675"/>
              <a:ext cx="4514638" cy="2153865"/>
            </a:xfrm>
            <a:prstGeom prst="rect">
              <a:avLst/>
            </a:prstGeom>
          </p:spPr>
          <p:txBody>
            <a:bodyPr lIns="50800" tIns="50800" rIns="50800" bIns="50800" rtlCol="0" anchor="ctr"/>
            <a:lstStyle/>
            <a:p>
              <a:pPr algn="ctr">
                <a:lnSpc>
                  <a:spcPts val="3494"/>
                </a:lnSpc>
              </a:pPr>
              <a:endParaRPr/>
            </a:p>
          </p:txBody>
        </p:sp>
      </p:grpSp>
      <p:sp>
        <p:nvSpPr>
          <p:cNvPr id="12" name="TextBox 12"/>
          <p:cNvSpPr txBox="1"/>
          <p:nvPr/>
        </p:nvSpPr>
        <p:spPr>
          <a:xfrm>
            <a:off x="820948" y="1600516"/>
            <a:ext cx="16611964" cy="7698740"/>
          </a:xfrm>
          <a:prstGeom prst="rect">
            <a:avLst/>
          </a:prstGeom>
        </p:spPr>
        <p:txBody>
          <a:bodyPr lIns="0" tIns="0" rIns="0" bIns="0" rtlCol="0" anchor="t">
            <a:spAutoFit/>
          </a:bodyPr>
          <a:lstStyle/>
          <a:p>
            <a:pPr algn="l">
              <a:lnSpc>
                <a:spcPts val="4060"/>
              </a:lnSpc>
              <a:spcBef>
                <a:spcPct val="0"/>
              </a:spcBef>
            </a:pPr>
            <a:r>
              <a:rPr lang="en-US" sz="2900" b="1" dirty="0">
                <a:solidFill>
                  <a:srgbClr val="FF914D"/>
                </a:solidFill>
                <a:latin typeface="Arial Nova Bold"/>
                <a:ea typeface="Arial Nova Bold"/>
                <a:cs typeface="Arial Nova Bold"/>
                <a:sym typeface="Arial Nova Bold"/>
              </a:rPr>
              <a:t>Purpose of Module:</a:t>
            </a:r>
          </a:p>
          <a:p>
            <a:pPr marL="626111" lvl="1" indent="-313055" algn="l">
              <a:lnSpc>
                <a:spcPts val="4060"/>
              </a:lnSpc>
              <a:buFont typeface="Arial"/>
              <a:buChar char="•"/>
            </a:pPr>
            <a:r>
              <a:rPr lang="en-US" sz="2900" dirty="0">
                <a:solidFill>
                  <a:srgbClr val="FFFFFF"/>
                </a:solidFill>
                <a:latin typeface="Arial Nova"/>
                <a:ea typeface="Arial Nova"/>
                <a:cs typeface="Arial Nova"/>
                <a:sym typeface="Arial Nova"/>
              </a:rPr>
              <a:t>This module analyzes booking behavior and operational risks that directly affect hotel revenue realization.</a:t>
            </a:r>
          </a:p>
          <a:p>
            <a:pPr algn="l">
              <a:lnSpc>
                <a:spcPts val="4060"/>
              </a:lnSpc>
            </a:pPr>
            <a:endParaRPr lang="en-US" sz="2900" dirty="0">
              <a:solidFill>
                <a:srgbClr val="FFFFFF"/>
              </a:solidFill>
              <a:latin typeface="Arial Nova"/>
              <a:ea typeface="Arial Nova"/>
              <a:cs typeface="Arial Nova"/>
              <a:sym typeface="Arial Nova"/>
            </a:endParaRPr>
          </a:p>
          <a:p>
            <a:pPr algn="l">
              <a:lnSpc>
                <a:spcPts val="4060"/>
              </a:lnSpc>
            </a:pPr>
            <a:r>
              <a:rPr lang="en-US" sz="2900" b="1" dirty="0">
                <a:solidFill>
                  <a:srgbClr val="FF914D"/>
                </a:solidFill>
                <a:latin typeface="Arial Nova Bold"/>
                <a:ea typeface="Arial Nova Bold"/>
                <a:cs typeface="Arial Nova Bold"/>
                <a:sym typeface="Arial Nova Bold"/>
              </a:rPr>
              <a:t>Key insights delivered:</a:t>
            </a:r>
          </a:p>
          <a:p>
            <a:pPr marL="626111" lvl="1" indent="-313055" algn="l">
              <a:lnSpc>
                <a:spcPts val="4060"/>
              </a:lnSpc>
              <a:buFont typeface="Arial"/>
              <a:buChar char="•"/>
            </a:pPr>
            <a:r>
              <a:rPr lang="en-US" sz="2900" dirty="0">
                <a:solidFill>
                  <a:srgbClr val="FFFFFF"/>
                </a:solidFill>
                <a:latin typeface="Arial Nova"/>
                <a:ea typeface="Arial Nova"/>
                <a:cs typeface="Arial Nova"/>
                <a:sym typeface="Arial Nova"/>
              </a:rPr>
              <a:t>Occupancy forecasting (Future Scope)</a:t>
            </a:r>
          </a:p>
          <a:p>
            <a:pPr marL="626111" lvl="1" indent="-313055" algn="l">
              <a:lnSpc>
                <a:spcPts val="4060"/>
              </a:lnSpc>
              <a:buFont typeface="Arial"/>
              <a:buChar char="•"/>
            </a:pPr>
            <a:r>
              <a:rPr lang="en-US" sz="2900" dirty="0">
                <a:solidFill>
                  <a:srgbClr val="FFFFFF"/>
                </a:solidFill>
                <a:latin typeface="Arial Nova"/>
                <a:ea typeface="Arial Nova"/>
                <a:cs typeface="Arial Nova"/>
                <a:sym typeface="Arial Nova"/>
              </a:rPr>
              <a:t>Cancellation trends</a:t>
            </a:r>
          </a:p>
          <a:p>
            <a:pPr marL="626111" lvl="1" indent="-313055" algn="l">
              <a:lnSpc>
                <a:spcPts val="4060"/>
              </a:lnSpc>
              <a:buFont typeface="Arial"/>
              <a:buChar char="•"/>
            </a:pPr>
            <a:r>
              <a:rPr lang="en-US" sz="2900" dirty="0">
                <a:solidFill>
                  <a:srgbClr val="FFFFFF"/>
                </a:solidFill>
                <a:latin typeface="Arial Nova"/>
                <a:ea typeface="Arial Nova"/>
                <a:cs typeface="Arial Nova"/>
                <a:sym typeface="Arial Nova"/>
              </a:rPr>
              <a:t>Lead time distribution</a:t>
            </a:r>
          </a:p>
          <a:p>
            <a:pPr marL="626111" lvl="1" indent="-313055" algn="l">
              <a:lnSpc>
                <a:spcPts val="4060"/>
              </a:lnSpc>
              <a:buFont typeface="Arial"/>
              <a:buChar char="•"/>
            </a:pPr>
            <a:r>
              <a:rPr lang="en-US" sz="2900" dirty="0">
                <a:solidFill>
                  <a:srgbClr val="FFFFFF"/>
                </a:solidFill>
                <a:latin typeface="Arial Nova"/>
                <a:ea typeface="Arial Nova"/>
                <a:cs typeface="Arial Nova"/>
                <a:sym typeface="Arial Nova"/>
              </a:rPr>
              <a:t>Refund and no-show behavior</a:t>
            </a:r>
          </a:p>
          <a:p>
            <a:pPr algn="l">
              <a:lnSpc>
                <a:spcPts val="4060"/>
              </a:lnSpc>
            </a:pPr>
            <a:endParaRPr lang="en-US" sz="2900" dirty="0">
              <a:solidFill>
                <a:srgbClr val="FFFFFF"/>
              </a:solidFill>
              <a:latin typeface="Arial Nova"/>
              <a:ea typeface="Arial Nova"/>
              <a:cs typeface="Arial Nova"/>
              <a:sym typeface="Arial Nova"/>
            </a:endParaRPr>
          </a:p>
          <a:p>
            <a:pPr algn="l">
              <a:lnSpc>
                <a:spcPts val="4060"/>
              </a:lnSpc>
            </a:pPr>
            <a:r>
              <a:rPr lang="en-US" sz="2900" b="1" dirty="0">
                <a:solidFill>
                  <a:srgbClr val="FF914D"/>
                </a:solidFill>
                <a:latin typeface="Arial Nova Bold"/>
                <a:ea typeface="Arial Nova Bold"/>
                <a:cs typeface="Arial Nova Bold"/>
                <a:sym typeface="Arial Nova Bold"/>
              </a:rPr>
              <a:t>Business Value:</a:t>
            </a:r>
            <a:r>
              <a:rPr lang="en-US" sz="2900" dirty="0">
                <a:solidFill>
                  <a:srgbClr val="FFFFFF"/>
                </a:solidFill>
                <a:latin typeface="Arial Nova"/>
                <a:ea typeface="Arial Nova"/>
                <a:cs typeface="Arial Nova"/>
                <a:sym typeface="Arial Nova"/>
              </a:rPr>
              <a:t> </a:t>
            </a:r>
          </a:p>
          <a:p>
            <a:pPr marL="626111" lvl="1" indent="-313055" algn="l">
              <a:lnSpc>
                <a:spcPts val="4060"/>
              </a:lnSpc>
              <a:buFont typeface="Arial"/>
              <a:buChar char="•"/>
            </a:pPr>
            <a:r>
              <a:rPr lang="en-US" sz="2900" dirty="0">
                <a:solidFill>
                  <a:srgbClr val="FFFFFF"/>
                </a:solidFill>
                <a:latin typeface="Arial Nova"/>
                <a:ea typeface="Arial Nova"/>
                <a:cs typeface="Arial Nova"/>
                <a:sym typeface="Arial Nova"/>
              </a:rPr>
              <a:t>Helps management anticipate demand uncertainty</a:t>
            </a:r>
          </a:p>
          <a:p>
            <a:pPr marL="626111" lvl="1" indent="-313055" algn="l">
              <a:lnSpc>
                <a:spcPts val="4060"/>
              </a:lnSpc>
              <a:buFont typeface="Arial"/>
              <a:buChar char="•"/>
            </a:pPr>
            <a:r>
              <a:rPr lang="en-US" sz="2900" dirty="0">
                <a:solidFill>
                  <a:srgbClr val="FFFFFF"/>
                </a:solidFill>
                <a:latin typeface="Arial Nova"/>
                <a:ea typeface="Arial Nova"/>
                <a:cs typeface="Arial Nova"/>
                <a:sym typeface="Arial Nova"/>
              </a:rPr>
              <a:t>Identifies revenue leakage risks due to cancellations and no-shows</a:t>
            </a:r>
          </a:p>
          <a:p>
            <a:pPr marL="626111" lvl="1" indent="-313055" algn="l">
              <a:lnSpc>
                <a:spcPts val="4060"/>
              </a:lnSpc>
              <a:buFont typeface="Arial"/>
              <a:buChar char="•"/>
            </a:pPr>
            <a:r>
              <a:rPr lang="en-US" sz="2900" dirty="0">
                <a:solidFill>
                  <a:srgbClr val="FFFFFF"/>
                </a:solidFill>
                <a:latin typeface="Arial Nova"/>
                <a:ea typeface="Arial Nova"/>
                <a:cs typeface="Arial Nova"/>
                <a:sym typeface="Arial Nova"/>
              </a:rPr>
              <a:t>Improves forecast accuracy and capacity planning</a:t>
            </a:r>
          </a:p>
          <a:p>
            <a:pPr marL="626111" lvl="1" indent="-313055" algn="l">
              <a:lnSpc>
                <a:spcPts val="4060"/>
              </a:lnSpc>
              <a:spcBef>
                <a:spcPct val="0"/>
              </a:spcBef>
              <a:buFont typeface="Arial"/>
              <a:buChar char="•"/>
            </a:pPr>
            <a:r>
              <a:rPr lang="en-US" sz="2900" dirty="0">
                <a:solidFill>
                  <a:srgbClr val="FFFFFF"/>
                </a:solidFill>
                <a:latin typeface="Arial Nova"/>
                <a:ea typeface="Arial Nova"/>
                <a:cs typeface="Arial Nova"/>
                <a:sym typeface="Arial Nova"/>
              </a:rPr>
              <a:t>Supports proactive overbooking and cancellation policies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sp>
        <p:nvSpPr>
          <p:cNvPr id="8" name="Freeform 8"/>
          <p:cNvSpPr/>
          <p:nvPr/>
        </p:nvSpPr>
        <p:spPr>
          <a:xfrm>
            <a:off x="514350" y="1467176"/>
            <a:ext cx="14127085" cy="7855331"/>
          </a:xfrm>
          <a:custGeom>
            <a:avLst/>
            <a:gdLst/>
            <a:ahLst/>
            <a:cxnLst/>
            <a:rect l="l" t="t" r="r" b="b"/>
            <a:pathLst>
              <a:path w="14127085" h="7855331">
                <a:moveTo>
                  <a:pt x="0" y="0"/>
                </a:moveTo>
                <a:lnTo>
                  <a:pt x="14127085" y="0"/>
                </a:lnTo>
                <a:lnTo>
                  <a:pt x="14127085" y="7855331"/>
                </a:lnTo>
                <a:lnTo>
                  <a:pt x="0" y="7855331"/>
                </a:lnTo>
                <a:lnTo>
                  <a:pt x="0" y="0"/>
                </a:lnTo>
                <a:close/>
              </a:path>
            </a:pathLst>
          </a:custGeom>
          <a:blipFill>
            <a:blip r:embed="rId2"/>
            <a:stretch>
              <a:fillRect t="-243" b="-243"/>
            </a:stretch>
          </a:blipFill>
        </p:spPr>
        <p:txBody>
          <a:bodyPr/>
          <a:lstStyle/>
          <a:p>
            <a:endParaRPr lang="en-IN"/>
          </a:p>
        </p:txBody>
      </p:sp>
      <p:sp>
        <p:nvSpPr>
          <p:cNvPr id="9" name="TextBox 9"/>
          <p:cNvSpPr txBox="1"/>
          <p:nvPr/>
        </p:nvSpPr>
        <p:spPr>
          <a:xfrm>
            <a:off x="514350" y="351605"/>
            <a:ext cx="17259300" cy="821055"/>
          </a:xfrm>
          <a:prstGeom prst="rect">
            <a:avLst/>
          </a:prstGeom>
        </p:spPr>
        <p:txBody>
          <a:bodyPr lIns="0" tIns="0" rIns="0" bIns="0" rtlCol="0" anchor="t">
            <a:spAutoFit/>
          </a:bodyPr>
          <a:lstStyle/>
          <a:p>
            <a:pPr algn="ctr">
              <a:lnSpc>
                <a:spcPts val="6719"/>
              </a:lnSpc>
              <a:spcBef>
                <a:spcPct val="0"/>
              </a:spcBef>
            </a:pPr>
            <a:r>
              <a:rPr lang="en-US" sz="4800" b="1">
                <a:solidFill>
                  <a:srgbClr val="FFFFFF"/>
                </a:solidFill>
                <a:latin typeface="Arial Nova Bold"/>
                <a:ea typeface="Arial Nova Bold"/>
                <a:cs typeface="Arial Nova Bold"/>
                <a:sym typeface="Arial Nova Bold"/>
              </a:rPr>
              <a:t>FORECASTING AND CANCELLATION INSIGHTS</a:t>
            </a:r>
          </a:p>
        </p:txBody>
      </p:sp>
      <p:grpSp>
        <p:nvGrpSpPr>
          <p:cNvPr id="10" name="Group 10"/>
          <p:cNvGrpSpPr/>
          <p:nvPr/>
        </p:nvGrpSpPr>
        <p:grpSpPr>
          <a:xfrm>
            <a:off x="14732600" y="1467175"/>
            <a:ext cx="3041050" cy="7855331"/>
            <a:chOff x="0" y="0"/>
            <a:chExt cx="800935" cy="2087190"/>
          </a:xfrm>
        </p:grpSpPr>
        <p:sp>
          <p:nvSpPr>
            <p:cNvPr id="11" name="Freeform 11"/>
            <p:cNvSpPr/>
            <p:nvPr/>
          </p:nvSpPr>
          <p:spPr>
            <a:xfrm>
              <a:off x="0" y="0"/>
              <a:ext cx="800935" cy="2087190"/>
            </a:xfrm>
            <a:custGeom>
              <a:avLst/>
              <a:gdLst/>
              <a:ahLst/>
              <a:cxnLst/>
              <a:rect l="l" t="t" r="r" b="b"/>
              <a:pathLst>
                <a:path w="800935" h="2087190">
                  <a:moveTo>
                    <a:pt x="0" y="0"/>
                  </a:moveTo>
                  <a:lnTo>
                    <a:pt x="800935" y="0"/>
                  </a:lnTo>
                  <a:lnTo>
                    <a:pt x="800935" y="2087190"/>
                  </a:lnTo>
                  <a:lnTo>
                    <a:pt x="0" y="2087190"/>
                  </a:lnTo>
                  <a:close/>
                </a:path>
              </a:pathLst>
            </a:custGeom>
            <a:solidFill>
              <a:srgbClr val="036493"/>
            </a:solidFill>
          </p:spPr>
          <p:txBody>
            <a:bodyPr/>
            <a:lstStyle/>
            <a:p>
              <a:endParaRPr lang="en-IN"/>
            </a:p>
          </p:txBody>
        </p:sp>
        <p:sp>
          <p:nvSpPr>
            <p:cNvPr id="12" name="TextBox 12"/>
            <p:cNvSpPr txBox="1"/>
            <p:nvPr/>
          </p:nvSpPr>
          <p:spPr>
            <a:xfrm>
              <a:off x="0" y="-66675"/>
              <a:ext cx="800935" cy="2153865"/>
            </a:xfrm>
            <a:prstGeom prst="rect">
              <a:avLst/>
            </a:prstGeom>
          </p:spPr>
          <p:txBody>
            <a:bodyPr lIns="50800" tIns="50800" rIns="50800" bIns="50800" rtlCol="0" anchor="ctr"/>
            <a:lstStyle/>
            <a:p>
              <a:pPr algn="ctr">
                <a:lnSpc>
                  <a:spcPts val="3494"/>
                </a:lnSpc>
              </a:pPr>
              <a:endParaRPr/>
            </a:p>
          </p:txBody>
        </p:sp>
      </p:grpSp>
      <p:sp>
        <p:nvSpPr>
          <p:cNvPr id="13" name="TextBox 13"/>
          <p:cNvSpPr txBox="1"/>
          <p:nvPr/>
        </p:nvSpPr>
        <p:spPr>
          <a:xfrm>
            <a:off x="14785940" y="1606671"/>
            <a:ext cx="2934370" cy="7893558"/>
          </a:xfrm>
          <a:prstGeom prst="rect">
            <a:avLst/>
          </a:prstGeom>
        </p:spPr>
        <p:txBody>
          <a:bodyPr lIns="0" tIns="0" rIns="0" bIns="0" rtlCol="0" anchor="t">
            <a:spAutoFit/>
          </a:bodyPr>
          <a:lstStyle/>
          <a:p>
            <a:pPr algn="l">
              <a:lnSpc>
                <a:spcPts val="2841"/>
              </a:lnSpc>
            </a:pPr>
            <a:r>
              <a:rPr lang="en-US" sz="2029" b="1" dirty="0">
                <a:solidFill>
                  <a:srgbClr val="FFFFFF"/>
                </a:solidFill>
                <a:latin typeface="Arial Nova Bold"/>
                <a:ea typeface="Arial Nova Bold"/>
                <a:cs typeface="Arial Nova Bold"/>
                <a:sym typeface="Arial Nova Bold"/>
              </a:rPr>
              <a:t>   </a:t>
            </a:r>
            <a:r>
              <a:rPr lang="en-US" sz="2029" b="1" dirty="0">
                <a:solidFill>
                  <a:srgbClr val="FF914D"/>
                </a:solidFill>
                <a:latin typeface="Arial Nova Bold"/>
                <a:ea typeface="Arial Nova Bold"/>
                <a:cs typeface="Arial Nova Bold"/>
                <a:sym typeface="Arial Nova Bold"/>
              </a:rPr>
              <a:t>Key Insights:</a:t>
            </a:r>
          </a:p>
          <a:p>
            <a:pPr marL="416686" lvl="1" indent="-208343" algn="l">
              <a:lnSpc>
                <a:spcPts val="2701"/>
              </a:lnSpc>
              <a:buFont typeface="Arial"/>
              <a:buChar char="•"/>
            </a:pPr>
            <a:r>
              <a:rPr lang="en-US" sz="1929" b="1" dirty="0">
                <a:solidFill>
                  <a:srgbClr val="FFFFFF"/>
                </a:solidFill>
                <a:latin typeface="Arial Nova Bold"/>
                <a:ea typeface="Arial Nova Bold"/>
                <a:cs typeface="Arial Nova Bold"/>
                <a:sym typeface="Arial Nova Bold"/>
              </a:rPr>
              <a:t>Occupancy:</a:t>
            </a:r>
            <a:r>
              <a:rPr lang="en-US" sz="1929" dirty="0">
                <a:solidFill>
                  <a:srgbClr val="FFFFFF"/>
                </a:solidFill>
                <a:latin typeface="Arial Nova"/>
                <a:ea typeface="Arial Nova"/>
                <a:cs typeface="Arial Nova"/>
                <a:sym typeface="Arial Nova"/>
              </a:rPr>
              <a:t> Increased to 55.69% (2024), dropped to 54.89% (2025) with uncertain outlook.</a:t>
            </a:r>
          </a:p>
          <a:p>
            <a:pPr algn="l">
              <a:lnSpc>
                <a:spcPts val="2701"/>
              </a:lnSpc>
            </a:pPr>
            <a:endParaRPr lang="en-US" sz="1929" dirty="0">
              <a:solidFill>
                <a:srgbClr val="FFFFFF"/>
              </a:solidFill>
              <a:latin typeface="Arial Nova"/>
              <a:ea typeface="Arial Nova"/>
              <a:cs typeface="Arial Nova"/>
              <a:sym typeface="Arial Nova"/>
            </a:endParaRPr>
          </a:p>
          <a:p>
            <a:pPr marL="416686" lvl="1" indent="-208343" algn="l">
              <a:lnSpc>
                <a:spcPts val="2701"/>
              </a:lnSpc>
              <a:buFont typeface="Arial"/>
              <a:buChar char="•"/>
            </a:pPr>
            <a:r>
              <a:rPr lang="en-US" sz="1929" b="1" dirty="0">
                <a:solidFill>
                  <a:srgbClr val="FFFFFF"/>
                </a:solidFill>
                <a:latin typeface="Arial Nova Bold"/>
                <a:ea typeface="Arial Nova Bold"/>
                <a:cs typeface="Arial Nova Bold"/>
                <a:sym typeface="Arial Nova Bold"/>
              </a:rPr>
              <a:t>Cancellation Rate:</a:t>
            </a:r>
            <a:r>
              <a:rPr lang="en-US" sz="1929" dirty="0">
                <a:solidFill>
                  <a:srgbClr val="FFFFFF"/>
                </a:solidFill>
                <a:latin typeface="Arial Nova"/>
                <a:ea typeface="Arial Nova"/>
                <a:cs typeface="Arial Nova"/>
                <a:sym typeface="Arial Nova"/>
              </a:rPr>
              <a:t> Fluctuates between ~29% and ~38% across months.</a:t>
            </a:r>
          </a:p>
          <a:p>
            <a:pPr algn="l">
              <a:lnSpc>
                <a:spcPts val="2701"/>
              </a:lnSpc>
            </a:pPr>
            <a:endParaRPr lang="en-US" sz="1929" dirty="0">
              <a:solidFill>
                <a:srgbClr val="FFFFFF"/>
              </a:solidFill>
              <a:latin typeface="Arial Nova"/>
              <a:ea typeface="Arial Nova"/>
              <a:cs typeface="Arial Nova"/>
              <a:sym typeface="Arial Nova"/>
            </a:endParaRPr>
          </a:p>
          <a:p>
            <a:pPr marL="416686" lvl="1" indent="-208343" algn="l">
              <a:lnSpc>
                <a:spcPts val="2701"/>
              </a:lnSpc>
              <a:buFont typeface="Arial"/>
              <a:buChar char="•"/>
            </a:pPr>
            <a:r>
              <a:rPr lang="en-US" sz="1929" b="1" dirty="0">
                <a:solidFill>
                  <a:srgbClr val="FFFFFF"/>
                </a:solidFill>
                <a:latin typeface="Arial Nova Bold"/>
                <a:ea typeface="Arial Nova Bold"/>
                <a:cs typeface="Arial Nova Bold"/>
                <a:sym typeface="Arial Nova Bold"/>
              </a:rPr>
              <a:t>Lead Time:</a:t>
            </a:r>
            <a:r>
              <a:rPr lang="en-US" sz="1929" dirty="0">
                <a:solidFill>
                  <a:srgbClr val="FFFFFF"/>
                </a:solidFill>
                <a:latin typeface="Arial Nova"/>
                <a:ea typeface="Arial Nova"/>
                <a:cs typeface="Arial Nova"/>
                <a:sym typeface="Arial Nova"/>
              </a:rPr>
              <a:t> Majority bookings fall within 0–60 days, showing mixed booking behavior.</a:t>
            </a:r>
          </a:p>
          <a:p>
            <a:pPr algn="l">
              <a:lnSpc>
                <a:spcPts val="2701"/>
              </a:lnSpc>
            </a:pPr>
            <a:endParaRPr lang="en-US" sz="1929" dirty="0">
              <a:solidFill>
                <a:srgbClr val="FFFFFF"/>
              </a:solidFill>
              <a:latin typeface="Arial Nova"/>
              <a:ea typeface="Arial Nova"/>
              <a:cs typeface="Arial Nova"/>
              <a:sym typeface="Arial Nova"/>
            </a:endParaRPr>
          </a:p>
          <a:p>
            <a:pPr marL="416686" lvl="1" indent="-208343" algn="l">
              <a:lnSpc>
                <a:spcPts val="2701"/>
              </a:lnSpc>
              <a:spcBef>
                <a:spcPct val="0"/>
              </a:spcBef>
              <a:buFont typeface="Arial"/>
              <a:buChar char="•"/>
            </a:pPr>
            <a:r>
              <a:rPr lang="en-US" sz="1929" b="1" dirty="0">
                <a:solidFill>
                  <a:srgbClr val="FFFFFF"/>
                </a:solidFill>
                <a:latin typeface="Arial Nova Bold"/>
                <a:ea typeface="Arial Nova Bold"/>
                <a:cs typeface="Arial Nova Bold"/>
                <a:sym typeface="Arial Nova Bold"/>
              </a:rPr>
              <a:t>Refunds &amp; No-Shows:</a:t>
            </a:r>
            <a:r>
              <a:rPr lang="en-US" sz="1929" dirty="0">
                <a:solidFill>
                  <a:srgbClr val="FFFFFF"/>
                </a:solidFill>
                <a:latin typeface="Arial Nova"/>
                <a:ea typeface="Arial Nova"/>
                <a:cs typeface="Arial Nova"/>
                <a:sym typeface="Arial Nova"/>
              </a:rPr>
              <a:t> Around 2K–3.4K bookings per year, nearly equal in volume.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sp>
        <p:nvSpPr>
          <p:cNvPr id="8" name="TextBox 8"/>
          <p:cNvSpPr txBox="1"/>
          <p:nvPr/>
        </p:nvSpPr>
        <p:spPr>
          <a:xfrm>
            <a:off x="568308" y="421301"/>
            <a:ext cx="17174461" cy="854075"/>
          </a:xfrm>
          <a:prstGeom prst="rect">
            <a:avLst/>
          </a:prstGeom>
        </p:spPr>
        <p:txBody>
          <a:bodyPr lIns="0" tIns="0" rIns="0" bIns="0" rtlCol="0" anchor="t">
            <a:spAutoFit/>
          </a:bodyPr>
          <a:lstStyle/>
          <a:p>
            <a:pPr algn="ctr">
              <a:lnSpc>
                <a:spcPts val="7000"/>
              </a:lnSpc>
              <a:spcBef>
                <a:spcPct val="0"/>
              </a:spcBef>
            </a:pPr>
            <a:r>
              <a:rPr lang="en-US" sz="5000" b="1">
                <a:solidFill>
                  <a:srgbClr val="FFFFFF"/>
                </a:solidFill>
                <a:latin typeface="Arial Nova Bold"/>
                <a:ea typeface="Arial Nova Bold"/>
                <a:cs typeface="Arial Nova Bold"/>
                <a:sym typeface="Arial Nova Bold"/>
              </a:rPr>
              <a:t>KEY MEASURES &amp; CALCULATIONS USED IN POWER BI</a:t>
            </a:r>
          </a:p>
        </p:txBody>
      </p:sp>
      <p:grpSp>
        <p:nvGrpSpPr>
          <p:cNvPr id="9" name="Group 9"/>
          <p:cNvGrpSpPr/>
          <p:nvPr/>
        </p:nvGrpSpPr>
        <p:grpSpPr>
          <a:xfrm>
            <a:off x="568308" y="1551981"/>
            <a:ext cx="17174461" cy="7924800"/>
            <a:chOff x="0" y="0"/>
            <a:chExt cx="4523315" cy="2087190"/>
          </a:xfrm>
        </p:grpSpPr>
        <p:sp>
          <p:nvSpPr>
            <p:cNvPr id="10" name="Freeform 10"/>
            <p:cNvSpPr/>
            <p:nvPr/>
          </p:nvSpPr>
          <p:spPr>
            <a:xfrm>
              <a:off x="0" y="0"/>
              <a:ext cx="4523315" cy="2087190"/>
            </a:xfrm>
            <a:custGeom>
              <a:avLst/>
              <a:gdLst/>
              <a:ahLst/>
              <a:cxnLst/>
              <a:rect l="l" t="t" r="r" b="b"/>
              <a:pathLst>
                <a:path w="4523315" h="2087190">
                  <a:moveTo>
                    <a:pt x="0" y="0"/>
                  </a:moveTo>
                  <a:lnTo>
                    <a:pt x="4523315" y="0"/>
                  </a:lnTo>
                  <a:lnTo>
                    <a:pt x="4523315" y="2087190"/>
                  </a:lnTo>
                  <a:lnTo>
                    <a:pt x="0" y="2087190"/>
                  </a:lnTo>
                  <a:close/>
                </a:path>
              </a:pathLst>
            </a:custGeom>
            <a:solidFill>
              <a:srgbClr val="036493"/>
            </a:solidFill>
          </p:spPr>
          <p:txBody>
            <a:bodyPr/>
            <a:lstStyle/>
            <a:p>
              <a:endParaRPr lang="en-IN"/>
            </a:p>
          </p:txBody>
        </p:sp>
        <p:sp>
          <p:nvSpPr>
            <p:cNvPr id="11" name="TextBox 11"/>
            <p:cNvSpPr txBox="1"/>
            <p:nvPr/>
          </p:nvSpPr>
          <p:spPr>
            <a:xfrm>
              <a:off x="0" y="-66675"/>
              <a:ext cx="4523315" cy="2153865"/>
            </a:xfrm>
            <a:prstGeom prst="rect">
              <a:avLst/>
            </a:prstGeom>
          </p:spPr>
          <p:txBody>
            <a:bodyPr lIns="50800" tIns="50800" rIns="50800" bIns="50800" rtlCol="0" anchor="ctr"/>
            <a:lstStyle/>
            <a:p>
              <a:pPr algn="ctr">
                <a:lnSpc>
                  <a:spcPts val="3494"/>
                </a:lnSpc>
              </a:pPr>
              <a:endParaRPr/>
            </a:p>
          </p:txBody>
        </p:sp>
      </p:grpSp>
      <p:sp>
        <p:nvSpPr>
          <p:cNvPr id="12" name="TextBox 12"/>
          <p:cNvSpPr txBox="1"/>
          <p:nvPr/>
        </p:nvSpPr>
        <p:spPr>
          <a:xfrm>
            <a:off x="690227" y="1758448"/>
            <a:ext cx="16930621" cy="7511865"/>
          </a:xfrm>
          <a:prstGeom prst="rect">
            <a:avLst/>
          </a:prstGeom>
        </p:spPr>
        <p:txBody>
          <a:bodyPr lIns="0" tIns="0" rIns="0" bIns="0" rtlCol="0" anchor="t">
            <a:spAutoFit/>
          </a:bodyPr>
          <a:lstStyle/>
          <a:p>
            <a:pPr marL="481456" lvl="1" indent="-240728" algn="l">
              <a:lnSpc>
                <a:spcPts val="3121"/>
              </a:lnSpc>
              <a:buFont typeface="Arial"/>
              <a:buChar char="•"/>
            </a:pPr>
            <a:r>
              <a:rPr lang="en-US" sz="2200" b="1" dirty="0">
                <a:solidFill>
                  <a:srgbClr val="FF914D"/>
                </a:solidFill>
                <a:latin typeface="Arial Nova Bold"/>
                <a:ea typeface="Arial Nova Bold"/>
                <a:cs typeface="Arial Nova Bold"/>
                <a:sym typeface="Arial Nova Bold"/>
              </a:rPr>
              <a:t>Occupancy % :</a:t>
            </a:r>
            <a:r>
              <a:rPr lang="en-US" sz="2200" dirty="0">
                <a:solidFill>
                  <a:srgbClr val="FFFFFF"/>
                </a:solidFill>
                <a:latin typeface="Arial Nova"/>
                <a:ea typeface="Arial Nova"/>
                <a:cs typeface="Arial Nova"/>
                <a:sym typeface="Arial Nova"/>
              </a:rPr>
              <a:t> Measures the percentage of available rooms that are occupied, indicating room utilization efficiency.</a:t>
            </a:r>
          </a:p>
          <a:p>
            <a:pPr algn="l">
              <a:lnSpc>
                <a:spcPts val="3121"/>
              </a:lnSpc>
            </a:pPr>
            <a:endParaRPr lang="en-US" sz="2200" dirty="0">
              <a:solidFill>
                <a:srgbClr val="FFFFFF"/>
              </a:solidFill>
              <a:latin typeface="Arial Nova"/>
              <a:ea typeface="Arial Nova"/>
              <a:cs typeface="Arial Nova"/>
              <a:sym typeface="Arial Nova"/>
            </a:endParaRPr>
          </a:p>
          <a:p>
            <a:pPr algn="l">
              <a:lnSpc>
                <a:spcPts val="3121"/>
              </a:lnSpc>
              <a:spcBef>
                <a:spcPct val="0"/>
              </a:spcBef>
            </a:pPr>
            <a:r>
              <a:rPr lang="en-US" sz="2200" dirty="0">
                <a:solidFill>
                  <a:srgbClr val="2EC4B6"/>
                </a:solidFill>
                <a:latin typeface="Arial Nova"/>
                <a:ea typeface="Arial Nova"/>
                <a:cs typeface="Arial Nova"/>
                <a:sym typeface="Arial Nova"/>
              </a:rPr>
              <a:t>      </a:t>
            </a:r>
            <a:r>
              <a:rPr lang="en-US" sz="2200" b="1" i="1" dirty="0">
                <a:solidFill>
                  <a:srgbClr val="2EC4B6"/>
                </a:solidFill>
                <a:latin typeface="Arial Nova Bold Italics"/>
                <a:ea typeface="Arial Nova Bold Italics"/>
                <a:cs typeface="Arial Nova Bold Italics"/>
                <a:sym typeface="Arial Nova Bold Italics"/>
              </a:rPr>
              <a:t>Occupancy % = DIVIDE([Room Booked], [TotalRooms]) * 100</a:t>
            </a:r>
          </a:p>
          <a:p>
            <a:pPr algn="l">
              <a:lnSpc>
                <a:spcPts val="3121"/>
              </a:lnSpc>
              <a:spcBef>
                <a:spcPct val="0"/>
              </a:spcBef>
            </a:pPr>
            <a:endParaRPr lang="en-US" sz="2200" b="1" i="1" dirty="0">
              <a:solidFill>
                <a:srgbClr val="2EC4B6"/>
              </a:solidFill>
              <a:latin typeface="Arial Nova Bold Italics"/>
              <a:ea typeface="Arial Nova Bold Italics"/>
              <a:cs typeface="Arial Nova Bold Italics"/>
              <a:sym typeface="Arial Nova Bold Italics"/>
            </a:endParaRPr>
          </a:p>
          <a:p>
            <a:pPr marL="481456" lvl="1" indent="-240728" algn="l">
              <a:lnSpc>
                <a:spcPts val="3121"/>
              </a:lnSpc>
              <a:buFont typeface="Arial"/>
              <a:buChar char="•"/>
            </a:pPr>
            <a:r>
              <a:rPr lang="en-US" sz="2200" b="1" dirty="0">
                <a:solidFill>
                  <a:srgbClr val="FF914D"/>
                </a:solidFill>
                <a:latin typeface="Arial Nova Bold"/>
                <a:ea typeface="Arial Nova Bold"/>
                <a:cs typeface="Arial Nova Bold"/>
                <a:sym typeface="Arial Nova Bold"/>
              </a:rPr>
              <a:t>Cancellation Rate :</a:t>
            </a:r>
            <a:r>
              <a:rPr lang="en-US" sz="2200" dirty="0">
                <a:solidFill>
                  <a:srgbClr val="FFFFFF"/>
                </a:solidFill>
                <a:latin typeface="Arial Nova"/>
                <a:ea typeface="Arial Nova"/>
                <a:cs typeface="Arial Nova"/>
                <a:sym typeface="Arial Nova"/>
              </a:rPr>
              <a:t> Measures the proportion of bookings that are cancelled, indicating booking reliability.</a:t>
            </a:r>
          </a:p>
          <a:p>
            <a:pPr algn="l">
              <a:lnSpc>
                <a:spcPts val="3121"/>
              </a:lnSpc>
              <a:spcBef>
                <a:spcPct val="0"/>
              </a:spcBef>
            </a:pPr>
            <a:endParaRPr lang="en-US" sz="2200" dirty="0">
              <a:solidFill>
                <a:srgbClr val="FFFFFF"/>
              </a:solidFill>
              <a:latin typeface="Arial Nova"/>
              <a:ea typeface="Arial Nova"/>
              <a:cs typeface="Arial Nova"/>
              <a:sym typeface="Arial Nova"/>
            </a:endParaRPr>
          </a:p>
          <a:p>
            <a:pPr algn="l">
              <a:lnSpc>
                <a:spcPts val="3121"/>
              </a:lnSpc>
              <a:spcBef>
                <a:spcPct val="0"/>
              </a:spcBef>
            </a:pPr>
            <a:r>
              <a:rPr lang="en-US" sz="2200" dirty="0">
                <a:solidFill>
                  <a:srgbClr val="2EC4B6"/>
                </a:solidFill>
                <a:latin typeface="Arial Nova"/>
                <a:ea typeface="Arial Nova"/>
                <a:cs typeface="Arial Nova"/>
                <a:sym typeface="Arial Nova"/>
              </a:rPr>
              <a:t>      </a:t>
            </a:r>
            <a:r>
              <a:rPr lang="en-US" sz="2200" b="1" i="1" dirty="0">
                <a:solidFill>
                  <a:srgbClr val="2EC4B6"/>
                </a:solidFill>
                <a:latin typeface="Arial Nova Bold Italics"/>
                <a:ea typeface="Arial Nova Bold Italics"/>
                <a:cs typeface="Arial Nova Bold Italics"/>
                <a:sym typeface="Arial Nova Bold Italics"/>
              </a:rPr>
              <a:t>CancellationRate = DIVIDE(COUNTROWS(FILTER(Bookings, Bookings[CancellationFlag] = "Yes")), COUNTROWS(Bookings))</a:t>
            </a:r>
          </a:p>
          <a:p>
            <a:pPr algn="l">
              <a:lnSpc>
                <a:spcPts val="3121"/>
              </a:lnSpc>
              <a:spcBef>
                <a:spcPct val="0"/>
              </a:spcBef>
            </a:pPr>
            <a:endParaRPr lang="en-US" sz="2200" b="1" i="1" dirty="0">
              <a:solidFill>
                <a:srgbClr val="2EC4B6"/>
              </a:solidFill>
              <a:latin typeface="Arial Nova Bold Italics"/>
              <a:ea typeface="Arial Nova Bold Italics"/>
              <a:cs typeface="Arial Nova Bold Italics"/>
              <a:sym typeface="Arial Nova Bold Italics"/>
            </a:endParaRPr>
          </a:p>
          <a:p>
            <a:pPr marL="481456" lvl="1" indent="-240728" algn="l">
              <a:lnSpc>
                <a:spcPts val="3121"/>
              </a:lnSpc>
              <a:buFont typeface="Arial"/>
              <a:buChar char="•"/>
            </a:pPr>
            <a:r>
              <a:rPr lang="en-US" sz="2200" b="1" dirty="0">
                <a:solidFill>
                  <a:srgbClr val="FF914D"/>
                </a:solidFill>
                <a:latin typeface="Arial Nova Bold"/>
                <a:ea typeface="Arial Nova Bold"/>
                <a:cs typeface="Arial Nova Bold"/>
                <a:sym typeface="Arial Nova Bold"/>
              </a:rPr>
              <a:t>Lead Time </a:t>
            </a:r>
            <a:r>
              <a:rPr lang="en-US" sz="2200" dirty="0">
                <a:solidFill>
                  <a:srgbClr val="FFFFFF"/>
                </a:solidFill>
                <a:latin typeface="Arial Nova"/>
                <a:ea typeface="Arial Nova"/>
                <a:cs typeface="Arial Nova"/>
                <a:sym typeface="Arial Nova"/>
              </a:rPr>
              <a:t>: Measures the number of days between booking date and check-in date, reflecting customer booking behavior.</a:t>
            </a:r>
          </a:p>
          <a:p>
            <a:pPr algn="l">
              <a:lnSpc>
                <a:spcPts val="3121"/>
              </a:lnSpc>
            </a:pPr>
            <a:endParaRPr lang="en-US" sz="2200" dirty="0">
              <a:solidFill>
                <a:srgbClr val="FFFFFF"/>
              </a:solidFill>
              <a:latin typeface="Arial Nova"/>
              <a:ea typeface="Arial Nova"/>
              <a:cs typeface="Arial Nova"/>
              <a:sym typeface="Arial Nova"/>
            </a:endParaRPr>
          </a:p>
          <a:p>
            <a:pPr algn="l">
              <a:lnSpc>
                <a:spcPts val="3121"/>
              </a:lnSpc>
              <a:spcBef>
                <a:spcPct val="0"/>
              </a:spcBef>
            </a:pPr>
            <a:r>
              <a:rPr lang="en-US" sz="2200" dirty="0">
                <a:solidFill>
                  <a:srgbClr val="2EC4B6"/>
                </a:solidFill>
                <a:latin typeface="Arial Nova"/>
                <a:ea typeface="Arial Nova"/>
                <a:cs typeface="Arial Nova"/>
                <a:sym typeface="Arial Nova"/>
              </a:rPr>
              <a:t>       </a:t>
            </a:r>
            <a:r>
              <a:rPr lang="en-US" sz="2200" b="1" i="1" dirty="0">
                <a:solidFill>
                  <a:srgbClr val="2EC4B6"/>
                </a:solidFill>
                <a:latin typeface="Arial Nova Bold Italics"/>
                <a:ea typeface="Arial Nova Bold Italics"/>
                <a:cs typeface="Arial Nova Bold Italics"/>
                <a:sym typeface="Arial Nova Bold Italics"/>
              </a:rPr>
              <a:t>Lead Time = DATEDIFF( 'Bookings'[BookingDate], 'Bookings'[CheckInDate], DAY)</a:t>
            </a:r>
          </a:p>
          <a:p>
            <a:pPr algn="l">
              <a:lnSpc>
                <a:spcPts val="3121"/>
              </a:lnSpc>
            </a:pPr>
            <a:endParaRPr lang="en-US" sz="2200" b="1" i="1" dirty="0">
              <a:solidFill>
                <a:srgbClr val="2EC4B6"/>
              </a:solidFill>
              <a:latin typeface="Arial Nova Bold Italics"/>
              <a:ea typeface="Arial Nova Bold Italics"/>
              <a:cs typeface="Arial Nova Bold Italics"/>
              <a:sym typeface="Arial Nova Bold Italics"/>
            </a:endParaRPr>
          </a:p>
          <a:p>
            <a:pPr marL="481456" lvl="1" indent="-240728" algn="l">
              <a:lnSpc>
                <a:spcPts val="3121"/>
              </a:lnSpc>
              <a:buFont typeface="Arial"/>
              <a:buChar char="•"/>
            </a:pPr>
            <a:r>
              <a:rPr lang="en-US" sz="2200" b="1" dirty="0">
                <a:solidFill>
                  <a:srgbClr val="FF914D"/>
                </a:solidFill>
                <a:latin typeface="Arial Nova Bold"/>
                <a:ea typeface="Arial Nova Bold"/>
                <a:cs typeface="Arial Nova Bold"/>
                <a:sym typeface="Arial Nova Bold"/>
              </a:rPr>
              <a:t>Refund Count </a:t>
            </a:r>
            <a:r>
              <a:rPr lang="en-US" sz="2200" dirty="0">
                <a:solidFill>
                  <a:srgbClr val="FFFFFF"/>
                </a:solidFill>
                <a:latin typeface="Arial Nova"/>
                <a:ea typeface="Arial Nova"/>
                <a:cs typeface="Arial Nova"/>
                <a:sym typeface="Arial Nova"/>
              </a:rPr>
              <a:t>: Measures the total number of refunded bookings, highlighting revenue leakage.</a:t>
            </a:r>
          </a:p>
          <a:p>
            <a:pPr algn="l">
              <a:lnSpc>
                <a:spcPts val="3121"/>
              </a:lnSpc>
            </a:pPr>
            <a:endParaRPr lang="en-US" sz="2200" dirty="0">
              <a:solidFill>
                <a:srgbClr val="FFFFFF"/>
              </a:solidFill>
              <a:latin typeface="Arial Nova"/>
              <a:ea typeface="Arial Nova"/>
              <a:cs typeface="Arial Nova"/>
              <a:sym typeface="Arial Nova"/>
            </a:endParaRPr>
          </a:p>
          <a:p>
            <a:pPr algn="l">
              <a:lnSpc>
                <a:spcPts val="3121"/>
              </a:lnSpc>
            </a:pPr>
            <a:r>
              <a:rPr lang="en-US" sz="2200" dirty="0">
                <a:solidFill>
                  <a:srgbClr val="2EC4B6"/>
                </a:solidFill>
                <a:latin typeface="Arial Nova"/>
                <a:ea typeface="Arial Nova"/>
                <a:cs typeface="Arial Nova"/>
                <a:sym typeface="Arial Nova"/>
              </a:rPr>
              <a:t>      </a:t>
            </a:r>
            <a:r>
              <a:rPr lang="en-US" sz="2200" b="1" i="1" dirty="0">
                <a:solidFill>
                  <a:srgbClr val="2EC4B6"/>
                </a:solidFill>
                <a:latin typeface="Arial Nova Bold Italics"/>
                <a:ea typeface="Arial Nova Bold Italics"/>
                <a:cs typeface="Arial Nova Bold Italics"/>
                <a:sym typeface="Arial Nova Bold Italics"/>
              </a:rPr>
              <a:t>RefundCount = CALCULATE(COUNTROWS(Bookings), Bookings[RefundAmount] &gt; 0)</a:t>
            </a:r>
          </a:p>
          <a:p>
            <a:pPr algn="l">
              <a:lnSpc>
                <a:spcPts val="3121"/>
              </a:lnSpc>
            </a:pPr>
            <a:endParaRPr lang="en-US" sz="2200" b="1" i="1" dirty="0">
              <a:solidFill>
                <a:srgbClr val="2EC4B6"/>
              </a:solidFill>
              <a:latin typeface="Arial Nova Bold Italics"/>
              <a:ea typeface="Arial Nova Bold Italics"/>
              <a:cs typeface="Arial Nova Bold Italics"/>
              <a:sym typeface="Arial Nova Bold Italics"/>
            </a:endParaRPr>
          </a:p>
          <a:p>
            <a:pPr marL="481456" lvl="1" indent="-240728" algn="l">
              <a:lnSpc>
                <a:spcPts val="3121"/>
              </a:lnSpc>
              <a:buFont typeface="Arial"/>
              <a:buChar char="•"/>
            </a:pPr>
            <a:r>
              <a:rPr lang="en-US" sz="2200" b="1" dirty="0">
                <a:solidFill>
                  <a:srgbClr val="FF914D"/>
                </a:solidFill>
                <a:latin typeface="Arial Nova Bold"/>
                <a:ea typeface="Arial Nova Bold"/>
                <a:cs typeface="Arial Nova Bold"/>
                <a:sym typeface="Arial Nova Bold"/>
              </a:rPr>
              <a:t>No Show Count :</a:t>
            </a:r>
            <a:r>
              <a:rPr lang="en-US" sz="2200" dirty="0">
                <a:solidFill>
                  <a:srgbClr val="FFFFFF"/>
                </a:solidFill>
                <a:latin typeface="Arial Nova"/>
                <a:ea typeface="Arial Nova"/>
                <a:cs typeface="Arial Nova"/>
                <a:sym typeface="Arial Nova"/>
              </a:rPr>
              <a:t> Measures the number of guests who did not arrive, impacting realized occupancy and revenue.</a:t>
            </a:r>
          </a:p>
          <a:p>
            <a:pPr algn="l">
              <a:lnSpc>
                <a:spcPts val="3121"/>
              </a:lnSpc>
            </a:pPr>
            <a:endParaRPr lang="en-US" sz="2200" dirty="0">
              <a:solidFill>
                <a:srgbClr val="FFFFFF"/>
              </a:solidFill>
              <a:latin typeface="Arial Nova"/>
              <a:ea typeface="Arial Nova"/>
              <a:cs typeface="Arial Nova"/>
              <a:sym typeface="Arial Nova"/>
            </a:endParaRPr>
          </a:p>
          <a:p>
            <a:pPr algn="l">
              <a:lnSpc>
                <a:spcPts val="3121"/>
              </a:lnSpc>
            </a:pPr>
            <a:r>
              <a:rPr lang="en-US" sz="2200" dirty="0">
                <a:solidFill>
                  <a:srgbClr val="FFFFFF"/>
                </a:solidFill>
                <a:latin typeface="Arial Nova"/>
                <a:ea typeface="Arial Nova"/>
                <a:cs typeface="Arial Nova"/>
                <a:sym typeface="Arial Nova"/>
              </a:rPr>
              <a:t>      </a:t>
            </a:r>
            <a:r>
              <a:rPr lang="en-US" sz="2200" b="1" i="1" dirty="0">
                <a:solidFill>
                  <a:srgbClr val="2EC4B6"/>
                </a:solidFill>
                <a:latin typeface="Arial Nova Bold Italics"/>
                <a:ea typeface="Arial Nova Bold Italics"/>
                <a:cs typeface="Arial Nova Bold Italics"/>
                <a:sym typeface="Arial Nova Bold Italics"/>
              </a:rPr>
              <a:t>NoShowCount = CALCULATE(COUNTROWS(Bookings), Bookings[BookingStatus] = "No-Show")</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grpSp>
        <p:nvGrpSpPr>
          <p:cNvPr id="8" name="Group 8"/>
          <p:cNvGrpSpPr/>
          <p:nvPr/>
        </p:nvGrpSpPr>
        <p:grpSpPr>
          <a:xfrm>
            <a:off x="549101" y="1497494"/>
            <a:ext cx="17189799" cy="7924800"/>
            <a:chOff x="0" y="0"/>
            <a:chExt cx="4527354" cy="2087190"/>
          </a:xfrm>
        </p:grpSpPr>
        <p:sp>
          <p:nvSpPr>
            <p:cNvPr id="9" name="Freeform 9"/>
            <p:cNvSpPr/>
            <p:nvPr/>
          </p:nvSpPr>
          <p:spPr>
            <a:xfrm>
              <a:off x="0" y="0"/>
              <a:ext cx="4527354" cy="2087190"/>
            </a:xfrm>
            <a:custGeom>
              <a:avLst/>
              <a:gdLst/>
              <a:ahLst/>
              <a:cxnLst/>
              <a:rect l="l" t="t" r="r" b="b"/>
              <a:pathLst>
                <a:path w="4527354" h="2087190">
                  <a:moveTo>
                    <a:pt x="0" y="0"/>
                  </a:moveTo>
                  <a:lnTo>
                    <a:pt x="4527354" y="0"/>
                  </a:lnTo>
                  <a:lnTo>
                    <a:pt x="4527354" y="2087190"/>
                  </a:lnTo>
                  <a:lnTo>
                    <a:pt x="0" y="2087190"/>
                  </a:lnTo>
                  <a:close/>
                </a:path>
              </a:pathLst>
            </a:custGeom>
            <a:solidFill>
              <a:srgbClr val="036493"/>
            </a:solidFill>
          </p:spPr>
          <p:txBody>
            <a:bodyPr/>
            <a:lstStyle/>
            <a:p>
              <a:endParaRPr lang="en-IN"/>
            </a:p>
          </p:txBody>
        </p:sp>
        <p:sp>
          <p:nvSpPr>
            <p:cNvPr id="10" name="TextBox 10"/>
            <p:cNvSpPr txBox="1"/>
            <p:nvPr/>
          </p:nvSpPr>
          <p:spPr>
            <a:xfrm>
              <a:off x="0" y="-66675"/>
              <a:ext cx="4527354" cy="2153865"/>
            </a:xfrm>
            <a:prstGeom prst="rect">
              <a:avLst/>
            </a:prstGeom>
          </p:spPr>
          <p:txBody>
            <a:bodyPr lIns="50800" tIns="50800" rIns="50800" bIns="50800" rtlCol="0" anchor="ctr"/>
            <a:lstStyle/>
            <a:p>
              <a:pPr algn="ctr">
                <a:lnSpc>
                  <a:spcPts val="3494"/>
                </a:lnSpc>
              </a:pPr>
              <a:endParaRPr/>
            </a:p>
          </p:txBody>
        </p:sp>
      </p:grpSp>
      <p:sp>
        <p:nvSpPr>
          <p:cNvPr id="11" name="TextBox 11"/>
          <p:cNvSpPr txBox="1"/>
          <p:nvPr/>
        </p:nvSpPr>
        <p:spPr>
          <a:xfrm>
            <a:off x="686261" y="1697519"/>
            <a:ext cx="16915479" cy="7458075"/>
          </a:xfrm>
          <a:prstGeom prst="rect">
            <a:avLst/>
          </a:prstGeom>
        </p:spPr>
        <p:txBody>
          <a:bodyPr lIns="0" tIns="0" rIns="0" bIns="0" rtlCol="0" anchor="t">
            <a:spAutoFit/>
          </a:bodyPr>
          <a:lstStyle/>
          <a:p>
            <a:pPr marL="0" lvl="0" indent="0" algn="l">
              <a:lnSpc>
                <a:spcPts val="4200"/>
              </a:lnSpc>
            </a:pPr>
            <a:r>
              <a:rPr lang="en-US" sz="3000" b="1" dirty="0">
                <a:solidFill>
                  <a:srgbClr val="FF914D"/>
                </a:solidFill>
                <a:latin typeface="Arial Nova Bold"/>
                <a:ea typeface="Arial Nova Bold"/>
                <a:cs typeface="Arial Nova Bold"/>
                <a:sym typeface="Arial Nova Bold"/>
              </a:rPr>
              <a:t>Purpose </a:t>
            </a:r>
            <a:r>
              <a:rPr lang="en-US" sz="3000" b="1" u="none" strike="noStrike" dirty="0">
                <a:solidFill>
                  <a:srgbClr val="FF914D"/>
                </a:solidFill>
                <a:latin typeface="Arial Nova Bold"/>
                <a:ea typeface="Arial Nova Bold"/>
                <a:cs typeface="Arial Nova Bold"/>
                <a:sym typeface="Arial Nova Bold"/>
              </a:rPr>
              <a:t>of the Module</a:t>
            </a:r>
          </a:p>
          <a:p>
            <a:pPr marL="647700" lvl="1" indent="-323850" algn="l">
              <a:lnSpc>
                <a:spcPts val="4200"/>
              </a:lnSpc>
              <a:buFont typeface="Arial"/>
              <a:buChar char="•"/>
            </a:pPr>
            <a:r>
              <a:rPr lang="en-US" sz="3000" u="none" strike="noStrike" dirty="0">
                <a:solidFill>
                  <a:srgbClr val="FFFFFF"/>
                </a:solidFill>
                <a:latin typeface="Arial Nova"/>
                <a:ea typeface="Arial Nova"/>
                <a:cs typeface="Arial Nova"/>
                <a:sym typeface="Arial Nova"/>
              </a:rPr>
              <a:t>This is the final, decision-oriented dashboard designed for General Managers and Revenue Managers.</a:t>
            </a:r>
          </a:p>
          <a:p>
            <a:pPr marL="647700" lvl="1" indent="-323850" algn="l">
              <a:lnSpc>
                <a:spcPts val="4200"/>
              </a:lnSpc>
              <a:buFont typeface="Arial"/>
              <a:buChar char="•"/>
            </a:pPr>
            <a:r>
              <a:rPr lang="en-US" sz="3000" u="none" strike="noStrike" dirty="0">
                <a:solidFill>
                  <a:srgbClr val="FFFFFF"/>
                </a:solidFill>
                <a:latin typeface="Arial Nova"/>
                <a:ea typeface="Arial Nova"/>
                <a:cs typeface="Arial Nova"/>
                <a:sym typeface="Arial Nova"/>
              </a:rPr>
              <a:t>It converts historical performance data into actionable revenue strategies.</a:t>
            </a:r>
          </a:p>
          <a:p>
            <a:pPr algn="l">
              <a:lnSpc>
                <a:spcPts val="4200"/>
              </a:lnSpc>
            </a:pPr>
            <a:endParaRPr lang="en-US" sz="3000" u="none" strike="noStrike" dirty="0">
              <a:solidFill>
                <a:srgbClr val="FFFFFF"/>
              </a:solidFill>
              <a:latin typeface="Arial Nova"/>
              <a:ea typeface="Arial Nova"/>
              <a:cs typeface="Arial Nova"/>
              <a:sym typeface="Arial Nova"/>
            </a:endParaRPr>
          </a:p>
          <a:p>
            <a:pPr marL="0" lvl="0" indent="0" algn="l">
              <a:lnSpc>
                <a:spcPts val="4200"/>
              </a:lnSpc>
            </a:pPr>
            <a:r>
              <a:rPr lang="en-US" sz="3000" b="1" u="none" strike="noStrike" dirty="0">
                <a:solidFill>
                  <a:srgbClr val="FF914D"/>
                </a:solidFill>
                <a:latin typeface="Arial Nova Bold"/>
                <a:ea typeface="Arial Nova Bold"/>
                <a:cs typeface="Arial Nova Bold"/>
                <a:sym typeface="Arial Nova Bold"/>
              </a:rPr>
              <a:t>Key Insights Delivered</a:t>
            </a:r>
          </a:p>
          <a:p>
            <a:pPr marL="647700" lvl="1" indent="-323850" algn="just">
              <a:lnSpc>
                <a:spcPts val="4200"/>
              </a:lnSpc>
              <a:buFont typeface="Arial"/>
              <a:buChar char="•"/>
            </a:pPr>
            <a:r>
              <a:rPr lang="en-US" sz="3000" u="none" strike="noStrike" dirty="0">
                <a:solidFill>
                  <a:srgbClr val="FFFFFF"/>
                </a:solidFill>
                <a:latin typeface="Arial Nova"/>
                <a:ea typeface="Arial Nova"/>
                <a:cs typeface="Arial Nova"/>
                <a:sym typeface="Arial Nova"/>
              </a:rPr>
              <a:t>Identifies upsell potential across ancillary services such as spa, dining, and add-on services based on guest segments.</a:t>
            </a:r>
          </a:p>
          <a:p>
            <a:pPr marL="647700" lvl="1" indent="-323850" algn="just">
              <a:lnSpc>
                <a:spcPts val="4200"/>
              </a:lnSpc>
              <a:buFont typeface="Arial"/>
              <a:buChar char="•"/>
            </a:pPr>
            <a:r>
              <a:rPr lang="en-US" sz="3000" u="none" strike="noStrike" dirty="0">
                <a:solidFill>
                  <a:srgbClr val="FFFFFF"/>
                </a:solidFill>
                <a:latin typeface="Arial Nova"/>
                <a:ea typeface="Arial Nova"/>
                <a:cs typeface="Arial Nova"/>
                <a:sym typeface="Arial Nova"/>
              </a:rPr>
              <a:t>Recommends optimal pricing tiers by season and room type.</a:t>
            </a:r>
          </a:p>
          <a:p>
            <a:pPr marL="647700" lvl="1" indent="-323850" algn="just">
              <a:lnSpc>
                <a:spcPts val="4200"/>
              </a:lnSpc>
              <a:buFont typeface="Arial"/>
              <a:buChar char="•"/>
            </a:pPr>
            <a:r>
              <a:rPr lang="en-US" sz="3000" u="none" strike="noStrike" dirty="0">
                <a:solidFill>
                  <a:srgbClr val="FFFFFF"/>
                </a:solidFill>
                <a:latin typeface="Arial Nova"/>
                <a:ea typeface="Arial Nova"/>
                <a:cs typeface="Arial Nova"/>
                <a:sym typeface="Arial Nova"/>
              </a:rPr>
              <a:t>Allows interactive simulation of pricing and demand scenarios.</a:t>
            </a:r>
          </a:p>
          <a:p>
            <a:pPr algn="l">
              <a:lnSpc>
                <a:spcPts val="4200"/>
              </a:lnSpc>
            </a:pPr>
            <a:endParaRPr lang="en-US" sz="3000" u="none" strike="noStrike" dirty="0">
              <a:solidFill>
                <a:srgbClr val="FFFFFF"/>
              </a:solidFill>
              <a:latin typeface="Arial Nova"/>
              <a:ea typeface="Arial Nova"/>
              <a:cs typeface="Arial Nova"/>
              <a:sym typeface="Arial Nova"/>
            </a:endParaRPr>
          </a:p>
          <a:p>
            <a:pPr marL="0" lvl="0" indent="0" algn="l">
              <a:lnSpc>
                <a:spcPts val="4200"/>
              </a:lnSpc>
            </a:pPr>
            <a:r>
              <a:rPr lang="en-US" sz="3000" b="1" u="none" strike="noStrike" dirty="0">
                <a:solidFill>
                  <a:srgbClr val="FF914D"/>
                </a:solidFill>
                <a:latin typeface="Arial Nova Bold"/>
                <a:ea typeface="Arial Nova Bold"/>
                <a:cs typeface="Arial Nova Bold"/>
                <a:sym typeface="Arial Nova Bold"/>
              </a:rPr>
              <a:t>Business Value</a:t>
            </a:r>
          </a:p>
          <a:p>
            <a:pPr marL="647700" lvl="1" indent="-323850" algn="l">
              <a:lnSpc>
                <a:spcPts val="4200"/>
              </a:lnSpc>
              <a:buFont typeface="Arial"/>
              <a:buChar char="•"/>
            </a:pPr>
            <a:r>
              <a:rPr lang="en-US" sz="3000" u="none" strike="noStrike" dirty="0">
                <a:solidFill>
                  <a:srgbClr val="FFFFFF"/>
                </a:solidFill>
                <a:latin typeface="Arial Nova"/>
                <a:ea typeface="Arial Nova"/>
                <a:cs typeface="Arial Nova"/>
                <a:sym typeface="Arial Nova"/>
              </a:rPr>
              <a:t>Helps decision-makers understand the trade-off between ADR and occupancy.</a:t>
            </a:r>
          </a:p>
          <a:p>
            <a:pPr marL="647700" lvl="1" indent="-323850" algn="l">
              <a:lnSpc>
                <a:spcPts val="4200"/>
              </a:lnSpc>
              <a:spcBef>
                <a:spcPct val="0"/>
              </a:spcBef>
              <a:buFont typeface="Arial"/>
              <a:buChar char="•"/>
            </a:pPr>
            <a:r>
              <a:rPr lang="en-US" sz="3000" u="none" strike="noStrike" dirty="0">
                <a:solidFill>
                  <a:srgbClr val="FFFFFF"/>
                </a:solidFill>
                <a:latin typeface="Arial Nova"/>
                <a:ea typeface="Arial Nova"/>
                <a:cs typeface="Arial Nova"/>
                <a:sym typeface="Arial Nova"/>
              </a:rPr>
              <a:t>Supports RevPAR optimization through data-driven scenario planning.</a:t>
            </a:r>
          </a:p>
        </p:txBody>
      </p:sp>
      <p:sp>
        <p:nvSpPr>
          <p:cNvPr id="12" name="TextBox 12"/>
          <p:cNvSpPr txBox="1"/>
          <p:nvPr/>
        </p:nvSpPr>
        <p:spPr>
          <a:xfrm>
            <a:off x="549101" y="261527"/>
            <a:ext cx="17189799" cy="904875"/>
          </a:xfrm>
          <a:prstGeom prst="rect">
            <a:avLst/>
          </a:prstGeom>
        </p:spPr>
        <p:txBody>
          <a:bodyPr lIns="0" tIns="0" rIns="0" bIns="0" rtlCol="0" anchor="t">
            <a:spAutoFit/>
          </a:bodyPr>
          <a:lstStyle/>
          <a:p>
            <a:pPr algn="ctr">
              <a:lnSpc>
                <a:spcPts val="7500"/>
              </a:lnSpc>
            </a:pPr>
            <a:r>
              <a:rPr lang="en-US" sz="5000" b="1">
                <a:solidFill>
                  <a:srgbClr val="FFFFFF"/>
                </a:solidFill>
                <a:latin typeface="Arial Nova Bold"/>
                <a:ea typeface="Arial Nova Bold"/>
                <a:cs typeface="Arial Nova Bold"/>
                <a:sym typeface="Arial Nova Bold"/>
              </a:rPr>
              <a:t>MODULE 5 - REVENUE STRATEGY DASHBOARD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sp>
        <p:nvSpPr>
          <p:cNvPr id="8" name="Freeform 8"/>
          <p:cNvSpPr/>
          <p:nvPr/>
        </p:nvSpPr>
        <p:spPr>
          <a:xfrm>
            <a:off x="547015" y="1028700"/>
            <a:ext cx="8399780" cy="4724876"/>
          </a:xfrm>
          <a:custGeom>
            <a:avLst/>
            <a:gdLst/>
            <a:ahLst/>
            <a:cxnLst/>
            <a:rect l="l" t="t" r="r" b="b"/>
            <a:pathLst>
              <a:path w="8399780" h="4724876">
                <a:moveTo>
                  <a:pt x="0" y="0"/>
                </a:moveTo>
                <a:lnTo>
                  <a:pt x="8399780" y="0"/>
                </a:lnTo>
                <a:lnTo>
                  <a:pt x="8399780" y="4724876"/>
                </a:lnTo>
                <a:lnTo>
                  <a:pt x="0" y="4724876"/>
                </a:lnTo>
                <a:lnTo>
                  <a:pt x="0" y="0"/>
                </a:lnTo>
                <a:close/>
              </a:path>
            </a:pathLst>
          </a:custGeom>
          <a:blipFill>
            <a:blip r:embed="rId2"/>
            <a:stretch>
              <a:fillRect/>
            </a:stretch>
          </a:blipFill>
        </p:spPr>
        <p:txBody>
          <a:bodyPr/>
          <a:lstStyle/>
          <a:p>
            <a:endParaRPr lang="en-IN"/>
          </a:p>
        </p:txBody>
      </p:sp>
      <p:sp>
        <p:nvSpPr>
          <p:cNvPr id="9" name="Freeform 9"/>
          <p:cNvSpPr/>
          <p:nvPr/>
        </p:nvSpPr>
        <p:spPr>
          <a:xfrm>
            <a:off x="9144000" y="4636145"/>
            <a:ext cx="8585241" cy="4839929"/>
          </a:xfrm>
          <a:custGeom>
            <a:avLst/>
            <a:gdLst/>
            <a:ahLst/>
            <a:cxnLst/>
            <a:rect l="l" t="t" r="r" b="b"/>
            <a:pathLst>
              <a:path w="8585241" h="4839929">
                <a:moveTo>
                  <a:pt x="0" y="0"/>
                </a:moveTo>
                <a:lnTo>
                  <a:pt x="8585241" y="0"/>
                </a:lnTo>
                <a:lnTo>
                  <a:pt x="8585241" y="4839929"/>
                </a:lnTo>
                <a:lnTo>
                  <a:pt x="0" y="4839929"/>
                </a:lnTo>
                <a:lnTo>
                  <a:pt x="0" y="0"/>
                </a:lnTo>
                <a:close/>
              </a:path>
            </a:pathLst>
          </a:custGeom>
          <a:blipFill>
            <a:blip r:embed="rId3"/>
            <a:stretch>
              <a:fillRect/>
            </a:stretch>
          </a:blipFill>
        </p:spPr>
        <p:txBody>
          <a:bodyPr/>
          <a:lstStyle/>
          <a:p>
            <a:endParaRPr lang="en-IN"/>
          </a:p>
        </p:txBody>
      </p:sp>
      <p:sp>
        <p:nvSpPr>
          <p:cNvPr id="10" name="TextBox 10"/>
          <p:cNvSpPr txBox="1"/>
          <p:nvPr/>
        </p:nvSpPr>
        <p:spPr>
          <a:xfrm>
            <a:off x="547015" y="381000"/>
            <a:ext cx="17159830" cy="615553"/>
          </a:xfrm>
          <a:prstGeom prst="rect">
            <a:avLst/>
          </a:prstGeom>
        </p:spPr>
        <p:txBody>
          <a:bodyPr lIns="0" tIns="0" rIns="0" bIns="0" rtlCol="0" anchor="t">
            <a:spAutoFit/>
          </a:bodyPr>
          <a:lstStyle/>
          <a:p>
            <a:pPr algn="ctr">
              <a:lnSpc>
                <a:spcPts val="4800"/>
              </a:lnSpc>
            </a:pPr>
            <a:r>
              <a:rPr lang="en-US" sz="4600" b="1" dirty="0">
                <a:solidFill>
                  <a:schemeClr val="bg1"/>
                </a:solidFill>
                <a:latin typeface="Arial Nova" panose="020B0504020202020204" pitchFamily="34" charset="0"/>
              </a:rPr>
              <a:t>STRATEGY SIMULATION &amp; DECISION SUPPORT DASHBOARD</a:t>
            </a:r>
            <a:endParaRPr lang="en-US" sz="4600" b="1" spc="-255" dirty="0">
              <a:solidFill>
                <a:schemeClr val="bg1"/>
              </a:solidFill>
              <a:latin typeface="Arial Nova" panose="020B0504020202020204" pitchFamily="34" charset="0"/>
              <a:ea typeface="Arial Nova Bold"/>
              <a:cs typeface="Arial Nova Bold"/>
              <a:sym typeface="Arial Nova Bold"/>
            </a:endParaRPr>
          </a:p>
        </p:txBody>
      </p:sp>
      <p:grpSp>
        <p:nvGrpSpPr>
          <p:cNvPr id="11" name="Group 11"/>
          <p:cNvGrpSpPr/>
          <p:nvPr/>
        </p:nvGrpSpPr>
        <p:grpSpPr>
          <a:xfrm>
            <a:off x="9144000" y="1028700"/>
            <a:ext cx="8562845" cy="3455582"/>
            <a:chOff x="0" y="0"/>
            <a:chExt cx="2255235" cy="910112"/>
          </a:xfrm>
        </p:grpSpPr>
        <p:sp>
          <p:nvSpPr>
            <p:cNvPr id="12" name="Freeform 12"/>
            <p:cNvSpPr/>
            <p:nvPr/>
          </p:nvSpPr>
          <p:spPr>
            <a:xfrm>
              <a:off x="0" y="0"/>
              <a:ext cx="2255235" cy="910112"/>
            </a:xfrm>
            <a:custGeom>
              <a:avLst/>
              <a:gdLst/>
              <a:ahLst/>
              <a:cxnLst/>
              <a:rect l="l" t="t" r="r" b="b"/>
              <a:pathLst>
                <a:path w="2255235" h="910112">
                  <a:moveTo>
                    <a:pt x="0" y="0"/>
                  </a:moveTo>
                  <a:lnTo>
                    <a:pt x="2255235" y="0"/>
                  </a:lnTo>
                  <a:lnTo>
                    <a:pt x="2255235" y="910112"/>
                  </a:lnTo>
                  <a:lnTo>
                    <a:pt x="0" y="910112"/>
                  </a:lnTo>
                  <a:close/>
                </a:path>
              </a:pathLst>
            </a:custGeom>
            <a:solidFill>
              <a:srgbClr val="036493"/>
            </a:solidFill>
          </p:spPr>
          <p:txBody>
            <a:bodyPr/>
            <a:lstStyle/>
            <a:p>
              <a:endParaRPr lang="en-IN"/>
            </a:p>
          </p:txBody>
        </p:sp>
        <p:sp>
          <p:nvSpPr>
            <p:cNvPr id="13" name="TextBox 13"/>
            <p:cNvSpPr txBox="1"/>
            <p:nvPr/>
          </p:nvSpPr>
          <p:spPr>
            <a:xfrm>
              <a:off x="0" y="-66675"/>
              <a:ext cx="2255235" cy="976787"/>
            </a:xfrm>
            <a:prstGeom prst="rect">
              <a:avLst/>
            </a:prstGeom>
          </p:spPr>
          <p:txBody>
            <a:bodyPr lIns="50800" tIns="50800" rIns="50800" bIns="50800" rtlCol="0" anchor="ctr"/>
            <a:lstStyle/>
            <a:p>
              <a:pPr algn="ctr">
                <a:lnSpc>
                  <a:spcPts val="3494"/>
                </a:lnSpc>
              </a:pPr>
              <a:endParaRPr/>
            </a:p>
          </p:txBody>
        </p:sp>
      </p:grpSp>
      <p:sp>
        <p:nvSpPr>
          <p:cNvPr id="14" name="TextBox 14"/>
          <p:cNvSpPr txBox="1"/>
          <p:nvPr/>
        </p:nvSpPr>
        <p:spPr>
          <a:xfrm>
            <a:off x="9276667" y="1021943"/>
            <a:ext cx="8297511" cy="3421470"/>
          </a:xfrm>
          <a:prstGeom prst="rect">
            <a:avLst/>
          </a:prstGeom>
        </p:spPr>
        <p:txBody>
          <a:bodyPr lIns="0" tIns="0" rIns="0" bIns="0" rtlCol="0" anchor="t">
            <a:spAutoFit/>
          </a:bodyPr>
          <a:lstStyle/>
          <a:p>
            <a:pPr marL="0" lvl="0" indent="0" algn="just">
              <a:lnSpc>
                <a:spcPts val="3040"/>
              </a:lnSpc>
            </a:pPr>
            <a:r>
              <a:rPr lang="en-US" sz="2171" b="1">
                <a:solidFill>
                  <a:srgbClr val="FF914D"/>
                </a:solidFill>
                <a:latin typeface="Arial Nova Bold"/>
                <a:ea typeface="Arial Nova Bold"/>
                <a:cs typeface="Arial Nova Bold"/>
                <a:sym typeface="Arial Nova Bold"/>
              </a:rPr>
              <a:t>Revenue by</a:t>
            </a:r>
            <a:r>
              <a:rPr lang="en-US" sz="2171" b="1" u="none" strike="noStrike">
                <a:solidFill>
                  <a:srgbClr val="FF914D"/>
                </a:solidFill>
                <a:latin typeface="Arial Nova Bold"/>
                <a:ea typeface="Arial Nova Bold"/>
                <a:cs typeface="Arial Nova Bold"/>
                <a:sym typeface="Arial Nova Bold"/>
              </a:rPr>
              <a:t> Month &amp; Service Type</a:t>
            </a:r>
          </a:p>
          <a:p>
            <a:pPr marL="468813" lvl="1" indent="-234407" algn="just">
              <a:lnSpc>
                <a:spcPts val="3040"/>
              </a:lnSpc>
              <a:buFont typeface="Arial"/>
              <a:buChar char="•"/>
            </a:pPr>
            <a:r>
              <a:rPr lang="en-US" sz="2171" u="none" strike="noStrike">
                <a:solidFill>
                  <a:srgbClr val="FFFFFF"/>
                </a:solidFill>
                <a:latin typeface="Arial Nova"/>
                <a:ea typeface="Arial Nova"/>
                <a:cs typeface="Arial Nova"/>
                <a:sym typeface="Arial Nova"/>
              </a:rPr>
              <a:t>Spa and Dining consistently contribute the largest share of ancillary revenue across all months, indicating strong upsell potential.</a:t>
            </a:r>
          </a:p>
          <a:p>
            <a:pPr algn="just">
              <a:lnSpc>
                <a:spcPts val="3040"/>
              </a:lnSpc>
            </a:pPr>
            <a:endParaRPr lang="en-US" sz="2171" u="none" strike="noStrike">
              <a:solidFill>
                <a:srgbClr val="FFFFFF"/>
              </a:solidFill>
              <a:latin typeface="Arial Nova"/>
              <a:ea typeface="Arial Nova"/>
              <a:cs typeface="Arial Nova"/>
              <a:sym typeface="Arial Nova"/>
            </a:endParaRPr>
          </a:p>
          <a:p>
            <a:pPr marL="0" lvl="0" indent="0" algn="just">
              <a:lnSpc>
                <a:spcPts val="3040"/>
              </a:lnSpc>
            </a:pPr>
            <a:r>
              <a:rPr lang="en-US" sz="2171" b="1" u="none" strike="noStrike">
                <a:solidFill>
                  <a:srgbClr val="FF914D"/>
                </a:solidFill>
                <a:latin typeface="Arial Nova Bold"/>
                <a:ea typeface="Arial Nova Bold"/>
                <a:cs typeface="Arial Nova Bold"/>
                <a:sym typeface="Arial Nova Bold"/>
              </a:rPr>
              <a:t>Annual Service Revenue &amp; Transactions Table</a:t>
            </a:r>
          </a:p>
          <a:p>
            <a:pPr marL="468813" lvl="1" indent="-234407" algn="just">
              <a:lnSpc>
                <a:spcPts val="3040"/>
              </a:lnSpc>
              <a:spcBef>
                <a:spcPct val="0"/>
              </a:spcBef>
              <a:buFont typeface="Arial"/>
              <a:buChar char="•"/>
            </a:pPr>
            <a:r>
              <a:rPr lang="en-US" sz="2171" u="none" strike="noStrike">
                <a:solidFill>
                  <a:srgbClr val="FFFFFF"/>
                </a:solidFill>
                <a:latin typeface="Arial Nova"/>
                <a:ea typeface="Arial Nova"/>
                <a:cs typeface="Arial Nova"/>
                <a:sym typeface="Arial Nova"/>
              </a:rPr>
              <a:t>Overall service revenue peaks in 2024, with Spa remaining the highest-earning service despite similar transaction volumes across services.</a:t>
            </a:r>
          </a:p>
        </p:txBody>
      </p:sp>
      <p:grpSp>
        <p:nvGrpSpPr>
          <p:cNvPr id="15" name="Group 15"/>
          <p:cNvGrpSpPr/>
          <p:nvPr/>
        </p:nvGrpSpPr>
        <p:grpSpPr>
          <a:xfrm>
            <a:off x="547015" y="5933908"/>
            <a:ext cx="8399780" cy="3542167"/>
            <a:chOff x="0" y="0"/>
            <a:chExt cx="2212288" cy="932916"/>
          </a:xfrm>
        </p:grpSpPr>
        <p:sp>
          <p:nvSpPr>
            <p:cNvPr id="16" name="Freeform 16"/>
            <p:cNvSpPr/>
            <p:nvPr/>
          </p:nvSpPr>
          <p:spPr>
            <a:xfrm>
              <a:off x="0" y="0"/>
              <a:ext cx="2212288" cy="932916"/>
            </a:xfrm>
            <a:custGeom>
              <a:avLst/>
              <a:gdLst/>
              <a:ahLst/>
              <a:cxnLst/>
              <a:rect l="l" t="t" r="r" b="b"/>
              <a:pathLst>
                <a:path w="2212288" h="932916">
                  <a:moveTo>
                    <a:pt x="0" y="0"/>
                  </a:moveTo>
                  <a:lnTo>
                    <a:pt x="2212288" y="0"/>
                  </a:lnTo>
                  <a:lnTo>
                    <a:pt x="2212288" y="932916"/>
                  </a:lnTo>
                  <a:lnTo>
                    <a:pt x="0" y="932916"/>
                  </a:lnTo>
                  <a:close/>
                </a:path>
              </a:pathLst>
            </a:custGeom>
            <a:solidFill>
              <a:srgbClr val="036493"/>
            </a:solidFill>
          </p:spPr>
          <p:txBody>
            <a:bodyPr/>
            <a:lstStyle/>
            <a:p>
              <a:endParaRPr lang="en-IN"/>
            </a:p>
          </p:txBody>
        </p:sp>
        <p:sp>
          <p:nvSpPr>
            <p:cNvPr id="17" name="TextBox 17"/>
            <p:cNvSpPr txBox="1"/>
            <p:nvPr/>
          </p:nvSpPr>
          <p:spPr>
            <a:xfrm>
              <a:off x="0" y="-66675"/>
              <a:ext cx="2212288" cy="999591"/>
            </a:xfrm>
            <a:prstGeom prst="rect">
              <a:avLst/>
            </a:prstGeom>
          </p:spPr>
          <p:txBody>
            <a:bodyPr lIns="50800" tIns="50800" rIns="50800" bIns="50800" rtlCol="0" anchor="ctr"/>
            <a:lstStyle/>
            <a:p>
              <a:pPr algn="ctr">
                <a:lnSpc>
                  <a:spcPts val="3494"/>
                </a:lnSpc>
              </a:pPr>
              <a:endParaRPr/>
            </a:p>
          </p:txBody>
        </p:sp>
      </p:grpSp>
      <p:sp>
        <p:nvSpPr>
          <p:cNvPr id="18" name="TextBox 18"/>
          <p:cNvSpPr txBox="1"/>
          <p:nvPr/>
        </p:nvSpPr>
        <p:spPr>
          <a:xfrm>
            <a:off x="691795" y="5970425"/>
            <a:ext cx="8110220" cy="3421507"/>
          </a:xfrm>
          <a:prstGeom prst="rect">
            <a:avLst/>
          </a:prstGeom>
        </p:spPr>
        <p:txBody>
          <a:bodyPr lIns="0" tIns="0" rIns="0" bIns="0" rtlCol="0" anchor="t">
            <a:spAutoFit/>
          </a:bodyPr>
          <a:lstStyle/>
          <a:p>
            <a:pPr marL="0" lvl="0" indent="0" algn="just">
              <a:lnSpc>
                <a:spcPts val="3037"/>
              </a:lnSpc>
            </a:pPr>
            <a:r>
              <a:rPr lang="en-US" sz="2169" b="1">
                <a:solidFill>
                  <a:srgbClr val="FF914D"/>
                </a:solidFill>
                <a:latin typeface="Arial Nova Bold"/>
                <a:ea typeface="Arial Nova Bold"/>
                <a:cs typeface="Arial Nova Bold"/>
                <a:sym typeface="Arial Nova Bold"/>
              </a:rPr>
              <a:t>Revenue by</a:t>
            </a:r>
            <a:r>
              <a:rPr lang="en-US" sz="2169" b="1" u="none" strike="noStrike">
                <a:solidFill>
                  <a:srgbClr val="FF914D"/>
                </a:solidFill>
                <a:latin typeface="Arial Nova Bold"/>
                <a:ea typeface="Arial Nova Bold"/>
                <a:cs typeface="Arial Nova Bold"/>
                <a:sym typeface="Arial Nova Bold"/>
              </a:rPr>
              <a:t> Service Type (Pie Chart)</a:t>
            </a:r>
          </a:p>
          <a:p>
            <a:pPr marL="468502" lvl="1" indent="-234251" algn="just">
              <a:lnSpc>
                <a:spcPts val="3037"/>
              </a:lnSpc>
              <a:buFont typeface="Arial"/>
              <a:buChar char="•"/>
            </a:pPr>
            <a:r>
              <a:rPr lang="en-US" sz="2169" u="none" strike="noStrike">
                <a:solidFill>
                  <a:srgbClr val="FFFFFF"/>
                </a:solidFill>
                <a:latin typeface="Arial Nova"/>
                <a:ea typeface="Arial Nova"/>
                <a:cs typeface="Arial Nova"/>
                <a:sym typeface="Arial Nova"/>
              </a:rPr>
              <a:t>Spa dominates total ancillary revenue (~34%), followed by Dining, highlighting experience-driven guest spending behavior.</a:t>
            </a:r>
          </a:p>
          <a:p>
            <a:pPr algn="just">
              <a:lnSpc>
                <a:spcPts val="3037"/>
              </a:lnSpc>
            </a:pPr>
            <a:endParaRPr lang="en-US" sz="2169" u="none" strike="noStrike">
              <a:solidFill>
                <a:srgbClr val="FFFFFF"/>
              </a:solidFill>
              <a:latin typeface="Arial Nova"/>
              <a:ea typeface="Arial Nova"/>
              <a:cs typeface="Arial Nova"/>
              <a:sym typeface="Arial Nova"/>
            </a:endParaRPr>
          </a:p>
          <a:p>
            <a:pPr marL="0" lvl="0" indent="0" algn="just">
              <a:lnSpc>
                <a:spcPts val="3037"/>
              </a:lnSpc>
            </a:pPr>
            <a:r>
              <a:rPr lang="en-US" sz="2169" b="1" u="none" strike="noStrike">
                <a:solidFill>
                  <a:srgbClr val="FF914D"/>
                </a:solidFill>
                <a:latin typeface="Arial Nova Bold"/>
                <a:ea typeface="Arial Nova Bold"/>
                <a:cs typeface="Arial Nova Bold"/>
                <a:sym typeface="Arial Nova Bold"/>
              </a:rPr>
              <a:t>Room Type Revenue by Season + What-If Sliders</a:t>
            </a:r>
          </a:p>
          <a:p>
            <a:pPr marL="468502" lvl="1" indent="-234251" algn="just">
              <a:lnSpc>
                <a:spcPts val="3037"/>
              </a:lnSpc>
              <a:spcBef>
                <a:spcPct val="0"/>
              </a:spcBef>
              <a:buFont typeface="Arial"/>
              <a:buChar char="•"/>
            </a:pPr>
            <a:r>
              <a:rPr lang="en-US" sz="2169" u="none" strike="noStrike">
                <a:solidFill>
                  <a:srgbClr val="FFFFFF"/>
                </a:solidFill>
                <a:latin typeface="Arial Nova"/>
                <a:ea typeface="Arial Nova"/>
                <a:cs typeface="Arial Nova"/>
                <a:sym typeface="Arial Nova"/>
              </a:rPr>
              <a:t>Premium room types generate maximum revenue across all seasons, and interactive price and occupancy sliders help optimize RevPAR by balancing ADR and demand.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sp>
        <p:nvSpPr>
          <p:cNvPr id="8" name="TextBox 8"/>
          <p:cNvSpPr txBox="1"/>
          <p:nvPr/>
        </p:nvSpPr>
        <p:spPr>
          <a:xfrm>
            <a:off x="739585" y="296111"/>
            <a:ext cx="16774690" cy="854075"/>
          </a:xfrm>
          <a:prstGeom prst="rect">
            <a:avLst/>
          </a:prstGeom>
        </p:spPr>
        <p:txBody>
          <a:bodyPr lIns="0" tIns="0" rIns="0" bIns="0" rtlCol="0" anchor="t">
            <a:spAutoFit/>
          </a:bodyPr>
          <a:lstStyle/>
          <a:p>
            <a:pPr algn="ctr">
              <a:lnSpc>
                <a:spcPts val="7000"/>
              </a:lnSpc>
            </a:pPr>
            <a:r>
              <a:rPr lang="en-US" sz="5000" b="1">
                <a:solidFill>
                  <a:srgbClr val="FFFFFF"/>
                </a:solidFill>
                <a:latin typeface="Arial Nova Bold"/>
                <a:ea typeface="Arial Nova Bold"/>
                <a:cs typeface="Arial Nova Bold"/>
                <a:sym typeface="Arial Nova Bold"/>
              </a:rPr>
              <a:t>INTERACTIVE WHAT-IF PARAMETERS</a:t>
            </a:r>
          </a:p>
        </p:txBody>
      </p:sp>
      <p:grpSp>
        <p:nvGrpSpPr>
          <p:cNvPr id="9" name="Group 9"/>
          <p:cNvGrpSpPr/>
          <p:nvPr/>
        </p:nvGrpSpPr>
        <p:grpSpPr>
          <a:xfrm>
            <a:off x="549101" y="1497494"/>
            <a:ext cx="17189799" cy="7924800"/>
            <a:chOff x="0" y="0"/>
            <a:chExt cx="4527354" cy="2087190"/>
          </a:xfrm>
        </p:grpSpPr>
        <p:sp>
          <p:nvSpPr>
            <p:cNvPr id="10" name="Freeform 10"/>
            <p:cNvSpPr/>
            <p:nvPr/>
          </p:nvSpPr>
          <p:spPr>
            <a:xfrm>
              <a:off x="0" y="0"/>
              <a:ext cx="4527354" cy="2087190"/>
            </a:xfrm>
            <a:custGeom>
              <a:avLst/>
              <a:gdLst/>
              <a:ahLst/>
              <a:cxnLst/>
              <a:rect l="l" t="t" r="r" b="b"/>
              <a:pathLst>
                <a:path w="4527354" h="2087190">
                  <a:moveTo>
                    <a:pt x="0" y="0"/>
                  </a:moveTo>
                  <a:lnTo>
                    <a:pt x="4527354" y="0"/>
                  </a:lnTo>
                  <a:lnTo>
                    <a:pt x="4527354" y="2087190"/>
                  </a:lnTo>
                  <a:lnTo>
                    <a:pt x="0" y="2087190"/>
                  </a:lnTo>
                  <a:close/>
                </a:path>
              </a:pathLst>
            </a:custGeom>
            <a:solidFill>
              <a:srgbClr val="036493"/>
            </a:solidFill>
          </p:spPr>
          <p:txBody>
            <a:bodyPr/>
            <a:lstStyle/>
            <a:p>
              <a:endParaRPr lang="en-IN"/>
            </a:p>
          </p:txBody>
        </p:sp>
        <p:sp>
          <p:nvSpPr>
            <p:cNvPr id="11" name="TextBox 11"/>
            <p:cNvSpPr txBox="1"/>
            <p:nvPr/>
          </p:nvSpPr>
          <p:spPr>
            <a:xfrm>
              <a:off x="0" y="-66675"/>
              <a:ext cx="4527354" cy="2153865"/>
            </a:xfrm>
            <a:prstGeom prst="rect">
              <a:avLst/>
            </a:prstGeom>
          </p:spPr>
          <p:txBody>
            <a:bodyPr lIns="50800" tIns="50800" rIns="50800" bIns="50800" rtlCol="0" anchor="ctr"/>
            <a:lstStyle/>
            <a:p>
              <a:pPr algn="ctr">
                <a:lnSpc>
                  <a:spcPts val="3494"/>
                </a:lnSpc>
              </a:pPr>
              <a:endParaRPr/>
            </a:p>
          </p:txBody>
        </p:sp>
      </p:grpSp>
      <p:sp>
        <p:nvSpPr>
          <p:cNvPr id="12" name="TextBox 12"/>
          <p:cNvSpPr txBox="1"/>
          <p:nvPr/>
        </p:nvSpPr>
        <p:spPr>
          <a:xfrm>
            <a:off x="756655" y="1685046"/>
            <a:ext cx="16774690" cy="7549695"/>
          </a:xfrm>
          <a:prstGeom prst="rect">
            <a:avLst/>
          </a:prstGeom>
        </p:spPr>
        <p:txBody>
          <a:bodyPr wrap="square" lIns="0" tIns="0" rIns="0" bIns="0" rtlCol="0" anchor="t">
            <a:spAutoFit/>
          </a:bodyPr>
          <a:lstStyle/>
          <a:p>
            <a:pPr marL="0" lvl="0" indent="0" algn="l">
              <a:lnSpc>
                <a:spcPts val="3699"/>
              </a:lnSpc>
            </a:pPr>
            <a:r>
              <a:rPr lang="en-US" sz="2642" b="1" dirty="0">
                <a:solidFill>
                  <a:srgbClr val="FF914D"/>
                </a:solidFill>
                <a:latin typeface="Arial Nova Bold"/>
                <a:ea typeface="Arial Nova Bold"/>
                <a:cs typeface="Arial Nova Bold"/>
                <a:sym typeface="Arial Nova Bold"/>
              </a:rPr>
              <a:t>Occupancy</a:t>
            </a:r>
            <a:r>
              <a:rPr lang="en-US" sz="2642" b="1" u="none" strike="noStrike" dirty="0">
                <a:solidFill>
                  <a:srgbClr val="FF914D"/>
                </a:solidFill>
                <a:latin typeface="Arial Nova Bold"/>
                <a:ea typeface="Arial Nova Bold"/>
                <a:cs typeface="Arial Nova Bold"/>
                <a:sym typeface="Arial Nova Bold"/>
              </a:rPr>
              <a:t> Sensitivity Parameter</a:t>
            </a:r>
          </a:p>
          <a:p>
            <a:pPr algn="l">
              <a:lnSpc>
                <a:spcPts val="3699"/>
              </a:lnSpc>
            </a:pPr>
            <a:endParaRPr lang="en-US" sz="2642" b="1" u="none" strike="noStrike" dirty="0">
              <a:solidFill>
                <a:srgbClr val="FF914D"/>
              </a:solidFill>
              <a:latin typeface="Arial Nova Bold"/>
              <a:ea typeface="Arial Nova Bold"/>
              <a:cs typeface="Arial Nova Bold"/>
              <a:sym typeface="Arial Nova Bold"/>
            </a:endParaRPr>
          </a:p>
          <a:p>
            <a:pPr algn="l">
              <a:lnSpc>
                <a:spcPts val="3699"/>
              </a:lnSpc>
            </a:pPr>
            <a:r>
              <a:rPr lang="en-US" sz="2642" u="none" strike="noStrike" dirty="0">
                <a:solidFill>
                  <a:srgbClr val="FFFFFF"/>
                </a:solidFill>
                <a:latin typeface="Arial Nova"/>
                <a:ea typeface="Arial Nova"/>
                <a:cs typeface="Arial Nova"/>
                <a:sym typeface="Arial Nova"/>
              </a:rPr>
              <a:t> </a:t>
            </a:r>
            <a:r>
              <a:rPr lang="en-US" sz="2642" u="none" strike="noStrike" dirty="0">
                <a:solidFill>
                  <a:srgbClr val="D5EFEF"/>
                </a:solidFill>
                <a:latin typeface="Arial Nova"/>
                <a:ea typeface="Arial Nova"/>
                <a:cs typeface="Arial Nova"/>
                <a:sym typeface="Arial Nova"/>
              </a:rPr>
              <a:t>     </a:t>
            </a:r>
            <a:r>
              <a:rPr lang="en-US" sz="2642" b="1" i="1" u="none" strike="noStrike" dirty="0">
                <a:solidFill>
                  <a:srgbClr val="2EC4B6"/>
                </a:solidFill>
                <a:latin typeface="Arial Nova Bold Italics"/>
                <a:ea typeface="Arial Nova Bold Italics"/>
                <a:cs typeface="Arial Nova Bold Italics"/>
                <a:sym typeface="Arial Nova Bold Italics"/>
              </a:rPr>
              <a:t>Occupancy Sensitivity = GENERATESERIES(0.8, 1.2, 0.05)</a:t>
            </a:r>
          </a:p>
          <a:p>
            <a:pPr algn="l">
              <a:lnSpc>
                <a:spcPts val="3699"/>
              </a:lnSpc>
            </a:pPr>
            <a:endParaRPr lang="en-US" sz="2642" b="1" i="1" u="none" strike="noStrike" dirty="0">
              <a:solidFill>
                <a:srgbClr val="2EC4B6"/>
              </a:solidFill>
              <a:latin typeface="Arial Nova Bold Italics"/>
              <a:ea typeface="Arial Nova Bold Italics"/>
              <a:cs typeface="Arial Nova Bold Italics"/>
              <a:sym typeface="Arial Nova Bold Italics"/>
            </a:endParaRPr>
          </a:p>
          <a:p>
            <a:pPr marL="570587" lvl="1" indent="-285294" algn="l">
              <a:lnSpc>
                <a:spcPts val="3699"/>
              </a:lnSpc>
              <a:buFont typeface="Arial"/>
              <a:buChar char="•"/>
            </a:pPr>
            <a:r>
              <a:rPr lang="en-US" sz="2642" u="none" strike="noStrike" dirty="0">
                <a:solidFill>
                  <a:srgbClr val="FFFFFF"/>
                </a:solidFill>
                <a:latin typeface="Arial Nova"/>
                <a:ea typeface="Arial Nova"/>
                <a:cs typeface="Arial Nova"/>
                <a:sym typeface="Arial Nova"/>
              </a:rPr>
              <a:t>Simulates how occupancy may increase or decrease in response to pricing changes.</a:t>
            </a:r>
          </a:p>
          <a:p>
            <a:pPr algn="l">
              <a:lnSpc>
                <a:spcPts val="3699"/>
              </a:lnSpc>
            </a:pPr>
            <a:endParaRPr lang="en-US" sz="2642" u="none" strike="noStrike" dirty="0">
              <a:solidFill>
                <a:srgbClr val="FFFFFF"/>
              </a:solidFill>
              <a:latin typeface="Arial Nova"/>
              <a:ea typeface="Arial Nova"/>
              <a:cs typeface="Arial Nova"/>
              <a:sym typeface="Arial Nova"/>
            </a:endParaRPr>
          </a:p>
          <a:p>
            <a:pPr marL="0" lvl="0" indent="0" algn="l">
              <a:lnSpc>
                <a:spcPts val="3699"/>
              </a:lnSpc>
            </a:pPr>
            <a:r>
              <a:rPr lang="en-US" sz="2642" b="1" u="none" strike="noStrike" dirty="0">
                <a:solidFill>
                  <a:srgbClr val="FF914D"/>
                </a:solidFill>
                <a:latin typeface="Arial Nova Bold"/>
                <a:ea typeface="Arial Nova Bold"/>
                <a:cs typeface="Arial Nova Bold"/>
                <a:sym typeface="Arial Nova Bold"/>
              </a:rPr>
              <a:t>Price Uplift % Parameter</a:t>
            </a:r>
          </a:p>
          <a:p>
            <a:pPr algn="l">
              <a:lnSpc>
                <a:spcPts val="3699"/>
              </a:lnSpc>
            </a:pPr>
            <a:endParaRPr lang="en-US" sz="2642" b="1" u="none" strike="noStrike" dirty="0">
              <a:solidFill>
                <a:srgbClr val="FF914D"/>
              </a:solidFill>
              <a:latin typeface="Arial Nova Bold"/>
              <a:ea typeface="Arial Nova Bold"/>
              <a:cs typeface="Arial Nova Bold"/>
              <a:sym typeface="Arial Nova Bold"/>
            </a:endParaRPr>
          </a:p>
          <a:p>
            <a:pPr algn="l">
              <a:lnSpc>
                <a:spcPts val="3699"/>
              </a:lnSpc>
            </a:pPr>
            <a:r>
              <a:rPr lang="en-US" sz="2642" u="none" strike="noStrike" dirty="0">
                <a:solidFill>
                  <a:srgbClr val="D5EFEF"/>
                </a:solidFill>
                <a:latin typeface="Arial Nova"/>
                <a:ea typeface="Arial Nova"/>
                <a:cs typeface="Arial Nova"/>
                <a:sym typeface="Arial Nova"/>
              </a:rPr>
              <a:t>       </a:t>
            </a:r>
            <a:r>
              <a:rPr lang="en-US" sz="2642" b="1" i="1" u="none" strike="noStrike" dirty="0">
                <a:solidFill>
                  <a:srgbClr val="2EC4B6"/>
                </a:solidFill>
                <a:latin typeface="Arial Nova Bold Italics"/>
                <a:ea typeface="Arial Nova Bold Italics"/>
                <a:cs typeface="Arial Nova Bold Italics"/>
                <a:sym typeface="Arial Nova Bold Italics"/>
              </a:rPr>
              <a:t>Price Uplift % = GENERATESERIES(-0.1, 0.2, 0.01)</a:t>
            </a:r>
          </a:p>
          <a:p>
            <a:pPr algn="l">
              <a:lnSpc>
                <a:spcPts val="3699"/>
              </a:lnSpc>
            </a:pPr>
            <a:endParaRPr lang="en-US" sz="2642" b="1" i="1" u="none" strike="noStrike" dirty="0">
              <a:solidFill>
                <a:srgbClr val="2EC4B6"/>
              </a:solidFill>
              <a:latin typeface="Arial Nova Bold Italics"/>
              <a:ea typeface="Arial Nova Bold Italics"/>
              <a:cs typeface="Arial Nova Bold Italics"/>
              <a:sym typeface="Arial Nova Bold Italics"/>
            </a:endParaRPr>
          </a:p>
          <a:p>
            <a:pPr marL="570587" lvl="1" indent="-285294" algn="l">
              <a:lnSpc>
                <a:spcPts val="3699"/>
              </a:lnSpc>
              <a:buFont typeface="Arial"/>
              <a:buChar char="•"/>
            </a:pPr>
            <a:r>
              <a:rPr lang="en-US" sz="2642" u="none" strike="noStrike" dirty="0">
                <a:solidFill>
                  <a:schemeClr val="bg1"/>
                </a:solidFill>
                <a:latin typeface="Arial Nova"/>
                <a:ea typeface="Arial Nova"/>
                <a:cs typeface="Arial Nova"/>
                <a:sym typeface="Arial Nova"/>
              </a:rPr>
              <a:t>Allows testing of price decrease or increase scenarios (−10% to +20%).</a:t>
            </a:r>
          </a:p>
          <a:p>
            <a:pPr algn="l">
              <a:lnSpc>
                <a:spcPts val="3699"/>
              </a:lnSpc>
            </a:pPr>
            <a:endParaRPr lang="en-US" sz="2642" u="none" strike="noStrike" dirty="0">
              <a:solidFill>
                <a:srgbClr val="D5EFEF"/>
              </a:solidFill>
              <a:latin typeface="Arial Nova"/>
              <a:ea typeface="Arial Nova"/>
              <a:cs typeface="Arial Nova"/>
              <a:sym typeface="Arial Nova"/>
            </a:endParaRPr>
          </a:p>
          <a:p>
            <a:pPr marL="0" lvl="0" indent="0" algn="l">
              <a:lnSpc>
                <a:spcPts val="3699"/>
              </a:lnSpc>
            </a:pPr>
            <a:r>
              <a:rPr lang="en-US" sz="2642" b="1" u="none" strike="noStrike" dirty="0">
                <a:solidFill>
                  <a:srgbClr val="FF914D"/>
                </a:solidFill>
                <a:latin typeface="Arial Nova Bold"/>
                <a:ea typeface="Arial Nova Bold"/>
                <a:cs typeface="Arial Nova Bold"/>
                <a:sym typeface="Arial Nova Bold"/>
              </a:rPr>
              <a:t>How These Parameters Are Used</a:t>
            </a:r>
          </a:p>
          <a:p>
            <a:pPr marL="572081" lvl="1" indent="-286040" algn="l">
              <a:lnSpc>
                <a:spcPts val="3709"/>
              </a:lnSpc>
              <a:buFont typeface="Arial"/>
              <a:buChar char="•"/>
            </a:pPr>
            <a:r>
              <a:rPr lang="en-US" sz="2649" u="none" strike="noStrike" dirty="0">
                <a:solidFill>
                  <a:schemeClr val="bg1"/>
                </a:solidFill>
                <a:latin typeface="Arial Nova"/>
                <a:ea typeface="Arial Nova"/>
                <a:cs typeface="Arial Nova"/>
                <a:sym typeface="Arial Nova"/>
              </a:rPr>
              <a:t>Adjust ADR dynamically.</a:t>
            </a:r>
          </a:p>
          <a:p>
            <a:pPr marL="570587" lvl="1" indent="-285294" algn="l">
              <a:lnSpc>
                <a:spcPts val="3699"/>
              </a:lnSpc>
              <a:buFont typeface="Arial"/>
              <a:buChar char="•"/>
            </a:pPr>
            <a:r>
              <a:rPr lang="en-US" sz="2642" u="none" strike="noStrike" dirty="0">
                <a:solidFill>
                  <a:schemeClr val="bg1"/>
                </a:solidFill>
                <a:latin typeface="Arial Nova"/>
                <a:ea typeface="Arial Nova"/>
                <a:cs typeface="Arial Nova"/>
                <a:sym typeface="Arial Nova"/>
              </a:rPr>
              <a:t>Observe resulting changes in Occupancy and RevPAR.</a:t>
            </a:r>
          </a:p>
          <a:p>
            <a:pPr marL="570587" lvl="1" indent="-285294" algn="l">
              <a:lnSpc>
                <a:spcPts val="3699"/>
              </a:lnSpc>
              <a:spcBef>
                <a:spcPct val="0"/>
              </a:spcBef>
              <a:buFont typeface="Arial"/>
              <a:buChar char="•"/>
            </a:pPr>
            <a:r>
              <a:rPr lang="en-US" sz="2642" u="none" strike="noStrike" dirty="0">
                <a:solidFill>
                  <a:schemeClr val="bg1"/>
                </a:solidFill>
                <a:latin typeface="Arial Nova"/>
                <a:ea typeface="Arial Nova"/>
                <a:cs typeface="Arial Nova"/>
                <a:sym typeface="Arial Nova"/>
              </a:rPr>
              <a:t>Support scenario-based revenue decision-making.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sp>
        <p:nvSpPr>
          <p:cNvPr id="8" name="Freeform 8"/>
          <p:cNvSpPr/>
          <p:nvPr/>
        </p:nvSpPr>
        <p:spPr>
          <a:xfrm>
            <a:off x="514350" y="1930468"/>
            <a:ext cx="13719638" cy="7682998"/>
          </a:xfrm>
          <a:custGeom>
            <a:avLst/>
            <a:gdLst/>
            <a:ahLst/>
            <a:cxnLst/>
            <a:rect l="l" t="t" r="r" b="b"/>
            <a:pathLst>
              <a:path w="13719638" h="7682998">
                <a:moveTo>
                  <a:pt x="0" y="0"/>
                </a:moveTo>
                <a:lnTo>
                  <a:pt x="13719638" y="0"/>
                </a:lnTo>
                <a:lnTo>
                  <a:pt x="13719638" y="7682997"/>
                </a:lnTo>
                <a:lnTo>
                  <a:pt x="0" y="7682997"/>
                </a:lnTo>
                <a:lnTo>
                  <a:pt x="0" y="0"/>
                </a:lnTo>
                <a:close/>
              </a:path>
            </a:pathLst>
          </a:custGeom>
          <a:blipFill>
            <a:blip r:embed="rId2"/>
            <a:stretch>
              <a:fillRect/>
            </a:stretch>
          </a:blipFill>
        </p:spPr>
        <p:txBody>
          <a:bodyPr/>
          <a:lstStyle/>
          <a:p>
            <a:endParaRPr lang="en-IN"/>
          </a:p>
        </p:txBody>
      </p:sp>
      <p:sp>
        <p:nvSpPr>
          <p:cNvPr id="9" name="TextBox 9"/>
          <p:cNvSpPr txBox="1"/>
          <p:nvPr/>
        </p:nvSpPr>
        <p:spPr>
          <a:xfrm>
            <a:off x="514350" y="226563"/>
            <a:ext cx="17259300" cy="854075"/>
          </a:xfrm>
          <a:prstGeom prst="rect">
            <a:avLst/>
          </a:prstGeom>
        </p:spPr>
        <p:txBody>
          <a:bodyPr lIns="0" tIns="0" rIns="0" bIns="0" rtlCol="0" anchor="t">
            <a:spAutoFit/>
          </a:bodyPr>
          <a:lstStyle/>
          <a:p>
            <a:pPr algn="ctr">
              <a:lnSpc>
                <a:spcPts val="7000"/>
              </a:lnSpc>
              <a:spcBef>
                <a:spcPct val="0"/>
              </a:spcBef>
            </a:pPr>
            <a:r>
              <a:rPr lang="en-US" sz="5000" b="1">
                <a:solidFill>
                  <a:srgbClr val="FFFFFF"/>
                </a:solidFill>
                <a:latin typeface="Arial Nova Bold"/>
                <a:ea typeface="Arial Nova Bold"/>
                <a:cs typeface="Arial Nova Bold"/>
                <a:sym typeface="Arial Nova Bold"/>
              </a:rPr>
              <a:t>GENERAL MANAGER DASHBOARD</a:t>
            </a:r>
          </a:p>
        </p:txBody>
      </p:sp>
      <p:sp>
        <p:nvSpPr>
          <p:cNvPr id="10" name="TextBox 10"/>
          <p:cNvSpPr txBox="1"/>
          <p:nvPr/>
        </p:nvSpPr>
        <p:spPr>
          <a:xfrm>
            <a:off x="514350" y="1118738"/>
            <a:ext cx="17259300" cy="692245"/>
          </a:xfrm>
          <a:prstGeom prst="rect">
            <a:avLst/>
          </a:prstGeom>
        </p:spPr>
        <p:txBody>
          <a:bodyPr lIns="0" tIns="0" rIns="0" bIns="0" rtlCol="0" anchor="t">
            <a:spAutoFit/>
          </a:bodyPr>
          <a:lstStyle/>
          <a:p>
            <a:pPr algn="l">
              <a:lnSpc>
                <a:spcPts val="2794"/>
              </a:lnSpc>
              <a:spcBef>
                <a:spcPct val="0"/>
              </a:spcBef>
            </a:pPr>
            <a:r>
              <a:rPr lang="en-US" sz="1996" b="1">
                <a:solidFill>
                  <a:srgbClr val="2EC4B6"/>
                </a:solidFill>
                <a:latin typeface="Arial Nova Bold"/>
                <a:ea typeface="Arial Nova Bold"/>
                <a:cs typeface="Arial Nova Bold"/>
                <a:sym typeface="Arial Nova Bold"/>
              </a:rPr>
              <a:t>This dashboard provides a high-level view of overall hotel performance, covering revenue, occupancy, pricing, booking behavior, service contribution, and future demand. It enables the General Manager to monitor current performance, trends, and risks at a glance.</a:t>
            </a:r>
          </a:p>
        </p:txBody>
      </p:sp>
      <p:grpSp>
        <p:nvGrpSpPr>
          <p:cNvPr id="11" name="Group 11"/>
          <p:cNvGrpSpPr/>
          <p:nvPr/>
        </p:nvGrpSpPr>
        <p:grpSpPr>
          <a:xfrm>
            <a:off x="14312640" y="1930468"/>
            <a:ext cx="3461010" cy="7682998"/>
            <a:chOff x="0" y="0"/>
            <a:chExt cx="911542" cy="2023506"/>
          </a:xfrm>
        </p:grpSpPr>
        <p:sp>
          <p:nvSpPr>
            <p:cNvPr id="12" name="Freeform 12"/>
            <p:cNvSpPr/>
            <p:nvPr/>
          </p:nvSpPr>
          <p:spPr>
            <a:xfrm>
              <a:off x="0" y="0"/>
              <a:ext cx="911542" cy="2023506"/>
            </a:xfrm>
            <a:custGeom>
              <a:avLst/>
              <a:gdLst/>
              <a:ahLst/>
              <a:cxnLst/>
              <a:rect l="l" t="t" r="r" b="b"/>
              <a:pathLst>
                <a:path w="911542" h="2023506">
                  <a:moveTo>
                    <a:pt x="0" y="0"/>
                  </a:moveTo>
                  <a:lnTo>
                    <a:pt x="911542" y="0"/>
                  </a:lnTo>
                  <a:lnTo>
                    <a:pt x="911542" y="2023506"/>
                  </a:lnTo>
                  <a:lnTo>
                    <a:pt x="0" y="2023506"/>
                  </a:lnTo>
                  <a:close/>
                </a:path>
              </a:pathLst>
            </a:custGeom>
            <a:solidFill>
              <a:srgbClr val="036493"/>
            </a:solidFill>
          </p:spPr>
          <p:txBody>
            <a:bodyPr/>
            <a:lstStyle/>
            <a:p>
              <a:endParaRPr lang="en-IN"/>
            </a:p>
          </p:txBody>
        </p:sp>
        <p:sp>
          <p:nvSpPr>
            <p:cNvPr id="13" name="TextBox 13"/>
            <p:cNvSpPr txBox="1"/>
            <p:nvPr/>
          </p:nvSpPr>
          <p:spPr>
            <a:xfrm>
              <a:off x="0" y="-66675"/>
              <a:ext cx="911542" cy="2090181"/>
            </a:xfrm>
            <a:prstGeom prst="rect">
              <a:avLst/>
            </a:prstGeom>
          </p:spPr>
          <p:txBody>
            <a:bodyPr lIns="50800" tIns="50800" rIns="50800" bIns="50800" rtlCol="0" anchor="ctr"/>
            <a:lstStyle/>
            <a:p>
              <a:pPr algn="ctr">
                <a:lnSpc>
                  <a:spcPts val="3494"/>
                </a:lnSpc>
              </a:pPr>
              <a:endParaRPr/>
            </a:p>
          </p:txBody>
        </p:sp>
      </p:grpSp>
      <p:sp>
        <p:nvSpPr>
          <p:cNvPr id="14" name="TextBox 14"/>
          <p:cNvSpPr txBox="1"/>
          <p:nvPr/>
        </p:nvSpPr>
        <p:spPr>
          <a:xfrm>
            <a:off x="14418094" y="1965237"/>
            <a:ext cx="3250102" cy="7631705"/>
          </a:xfrm>
          <a:prstGeom prst="rect">
            <a:avLst/>
          </a:prstGeom>
        </p:spPr>
        <p:txBody>
          <a:bodyPr lIns="0" tIns="0" rIns="0" bIns="0" rtlCol="0" anchor="t">
            <a:spAutoFit/>
          </a:bodyPr>
          <a:lstStyle/>
          <a:p>
            <a:pPr algn="just">
              <a:lnSpc>
                <a:spcPts val="2519"/>
              </a:lnSpc>
              <a:spcBef>
                <a:spcPct val="0"/>
              </a:spcBef>
            </a:pPr>
            <a:r>
              <a:rPr lang="en-US" sz="1799" dirty="0">
                <a:solidFill>
                  <a:srgbClr val="FF914D"/>
                </a:solidFill>
                <a:latin typeface="Arial Nova"/>
                <a:ea typeface="Arial Nova"/>
                <a:cs typeface="Arial Nova"/>
                <a:sym typeface="Arial Nova"/>
              </a:rPr>
              <a:t> </a:t>
            </a:r>
            <a:r>
              <a:rPr lang="en-US" b="1" dirty="0">
                <a:solidFill>
                  <a:srgbClr val="FF914D"/>
                </a:solidFill>
                <a:latin typeface="Arial Nova Bold"/>
                <a:ea typeface="Arial Nova Bold"/>
                <a:cs typeface="Arial Nova Bold"/>
                <a:sym typeface="Arial Nova Bold"/>
              </a:rPr>
              <a:t>Key Insights:</a:t>
            </a:r>
          </a:p>
          <a:p>
            <a:pPr marL="345439" lvl="1" indent="-172720" algn="just">
              <a:lnSpc>
                <a:spcPts val="2239"/>
              </a:lnSpc>
              <a:spcBef>
                <a:spcPct val="0"/>
              </a:spcBef>
              <a:buFont typeface="Arial"/>
              <a:buChar char="•"/>
            </a:pPr>
            <a:r>
              <a:rPr lang="en-US" sz="1599" b="1" dirty="0">
                <a:solidFill>
                  <a:srgbClr val="FFFFFF"/>
                </a:solidFill>
                <a:latin typeface="Arial Nova Bold"/>
                <a:ea typeface="Arial Nova Bold"/>
                <a:cs typeface="Arial Nova Bold"/>
                <a:sym typeface="Arial Nova Bold"/>
              </a:rPr>
              <a:t>Total Revenue:</a:t>
            </a:r>
            <a:r>
              <a:rPr lang="en-US" sz="1599" dirty="0">
                <a:solidFill>
                  <a:srgbClr val="FFFFFF"/>
                </a:solidFill>
                <a:latin typeface="Arial Nova"/>
                <a:ea typeface="Arial Nova"/>
                <a:cs typeface="Arial Nova"/>
                <a:sym typeface="Arial Nova"/>
              </a:rPr>
              <a:t> ₹514M with steady monthly growth, peaking around ₹54M.</a:t>
            </a:r>
          </a:p>
          <a:p>
            <a:pPr algn="just">
              <a:lnSpc>
                <a:spcPts val="2239"/>
              </a:lnSpc>
              <a:spcBef>
                <a:spcPct val="0"/>
              </a:spcBef>
            </a:pPr>
            <a:endParaRPr lang="en-US" sz="1599" dirty="0">
              <a:solidFill>
                <a:srgbClr val="FFFFFF"/>
              </a:solidFill>
              <a:latin typeface="Arial Nova"/>
              <a:ea typeface="Arial Nova"/>
              <a:cs typeface="Arial Nova"/>
              <a:sym typeface="Arial Nova"/>
            </a:endParaRPr>
          </a:p>
          <a:p>
            <a:pPr marL="345439" lvl="1" indent="-172720" algn="just">
              <a:lnSpc>
                <a:spcPts val="2239"/>
              </a:lnSpc>
              <a:spcBef>
                <a:spcPct val="0"/>
              </a:spcBef>
              <a:buFont typeface="Arial"/>
              <a:buChar char="•"/>
            </a:pPr>
            <a:r>
              <a:rPr lang="en-US" sz="1599" b="1" dirty="0">
                <a:solidFill>
                  <a:srgbClr val="FFFFFF"/>
                </a:solidFill>
                <a:latin typeface="Arial Nova Bold"/>
                <a:ea typeface="Arial Nova Bold"/>
                <a:cs typeface="Arial Nova Bold"/>
                <a:sym typeface="Arial Nova Bold"/>
              </a:rPr>
              <a:t>Occupancy:</a:t>
            </a:r>
            <a:r>
              <a:rPr lang="en-US" sz="1599" dirty="0">
                <a:solidFill>
                  <a:srgbClr val="FFFFFF"/>
                </a:solidFill>
                <a:latin typeface="Arial Nova"/>
                <a:ea typeface="Arial Nova"/>
                <a:cs typeface="Arial Nova"/>
                <a:sym typeface="Arial Nova"/>
              </a:rPr>
              <a:t> Low overall (13.23%), indicating scope for demand improvement.</a:t>
            </a:r>
          </a:p>
          <a:p>
            <a:pPr algn="just">
              <a:lnSpc>
                <a:spcPts val="2239"/>
              </a:lnSpc>
              <a:spcBef>
                <a:spcPct val="0"/>
              </a:spcBef>
            </a:pPr>
            <a:endParaRPr lang="en-US" sz="1599" dirty="0">
              <a:solidFill>
                <a:srgbClr val="FFFFFF"/>
              </a:solidFill>
              <a:latin typeface="Arial Nova"/>
              <a:ea typeface="Arial Nova"/>
              <a:cs typeface="Arial Nova"/>
              <a:sym typeface="Arial Nova"/>
            </a:endParaRPr>
          </a:p>
          <a:p>
            <a:pPr marL="345439" lvl="1" indent="-172720" algn="just">
              <a:lnSpc>
                <a:spcPts val="2239"/>
              </a:lnSpc>
              <a:spcBef>
                <a:spcPct val="0"/>
              </a:spcBef>
              <a:buFont typeface="Arial"/>
              <a:buChar char="•"/>
            </a:pPr>
            <a:r>
              <a:rPr lang="en-US" sz="1599" b="1" dirty="0">
                <a:solidFill>
                  <a:srgbClr val="FFFFFF"/>
                </a:solidFill>
                <a:latin typeface="Arial Nova Bold"/>
                <a:ea typeface="Arial Nova Bold"/>
                <a:cs typeface="Arial Nova Bold"/>
                <a:sym typeface="Arial Nova Bold"/>
              </a:rPr>
              <a:t>Pricing:</a:t>
            </a:r>
            <a:r>
              <a:rPr lang="en-US" sz="1599" dirty="0">
                <a:solidFill>
                  <a:srgbClr val="FFFFFF"/>
                </a:solidFill>
                <a:latin typeface="Arial Nova"/>
                <a:ea typeface="Arial Nova"/>
                <a:cs typeface="Arial Nova"/>
                <a:sym typeface="Arial Nova"/>
              </a:rPr>
              <a:t> ADR ~₹663 with stable RevPAR trends across months.</a:t>
            </a:r>
          </a:p>
          <a:p>
            <a:pPr algn="just">
              <a:lnSpc>
                <a:spcPts val="2239"/>
              </a:lnSpc>
              <a:spcBef>
                <a:spcPct val="0"/>
              </a:spcBef>
            </a:pPr>
            <a:endParaRPr lang="en-US" sz="1599" dirty="0">
              <a:solidFill>
                <a:srgbClr val="FFFFFF"/>
              </a:solidFill>
              <a:latin typeface="Arial Nova"/>
              <a:ea typeface="Arial Nova"/>
              <a:cs typeface="Arial Nova"/>
              <a:sym typeface="Arial Nova"/>
            </a:endParaRPr>
          </a:p>
          <a:p>
            <a:pPr marL="345439" lvl="1" indent="-172720" algn="just">
              <a:lnSpc>
                <a:spcPts val="2239"/>
              </a:lnSpc>
              <a:spcBef>
                <a:spcPct val="0"/>
              </a:spcBef>
              <a:buFont typeface="Arial"/>
              <a:buChar char="•"/>
            </a:pPr>
            <a:r>
              <a:rPr lang="en-US" sz="1599" b="1" dirty="0">
                <a:solidFill>
                  <a:srgbClr val="FFFFFF"/>
                </a:solidFill>
                <a:latin typeface="Arial Nova Bold"/>
                <a:ea typeface="Arial Nova Bold"/>
                <a:cs typeface="Arial Nova Bold"/>
                <a:sym typeface="Arial Nova Bold"/>
              </a:rPr>
              <a:t>Bookings:</a:t>
            </a:r>
            <a:r>
              <a:rPr lang="en-US" sz="1599" dirty="0">
                <a:solidFill>
                  <a:srgbClr val="FFFFFF"/>
                </a:solidFill>
                <a:latin typeface="Arial Nova"/>
                <a:ea typeface="Arial Nova"/>
                <a:cs typeface="Arial Nova"/>
                <a:sym typeface="Arial Nova"/>
              </a:rPr>
              <a:t> Checked-in, cancelled, and no-shows contribute almost equally, impacting realized revenue.</a:t>
            </a:r>
          </a:p>
          <a:p>
            <a:pPr algn="just">
              <a:lnSpc>
                <a:spcPts val="2239"/>
              </a:lnSpc>
              <a:spcBef>
                <a:spcPct val="0"/>
              </a:spcBef>
            </a:pPr>
            <a:endParaRPr lang="en-US" sz="1599" dirty="0">
              <a:solidFill>
                <a:srgbClr val="FFFFFF"/>
              </a:solidFill>
              <a:latin typeface="Arial Nova"/>
              <a:ea typeface="Arial Nova"/>
              <a:cs typeface="Arial Nova"/>
              <a:sym typeface="Arial Nova"/>
            </a:endParaRPr>
          </a:p>
          <a:p>
            <a:pPr marL="345439" lvl="1" indent="-172720" algn="just">
              <a:lnSpc>
                <a:spcPts val="2239"/>
              </a:lnSpc>
              <a:spcBef>
                <a:spcPct val="0"/>
              </a:spcBef>
              <a:buFont typeface="Arial"/>
              <a:buChar char="•"/>
            </a:pPr>
            <a:r>
              <a:rPr lang="en-US" sz="1599" b="1" dirty="0">
                <a:solidFill>
                  <a:srgbClr val="FFFFFF"/>
                </a:solidFill>
                <a:latin typeface="Arial Nova Bold"/>
                <a:ea typeface="Arial Nova Bold"/>
                <a:cs typeface="Arial Nova Bold"/>
                <a:sym typeface="Arial Nova Bold"/>
              </a:rPr>
              <a:t>Channels &amp; Services:</a:t>
            </a:r>
            <a:r>
              <a:rPr lang="en-US" sz="1599" dirty="0">
                <a:solidFill>
                  <a:srgbClr val="FFFFFF"/>
                </a:solidFill>
                <a:latin typeface="Arial Nova"/>
                <a:ea typeface="Arial Nova"/>
                <a:cs typeface="Arial Nova"/>
                <a:sym typeface="Arial Nova"/>
              </a:rPr>
              <a:t> Website and mobile app dominate bookings; Gym and Laundry contribute the highest service revenue.</a:t>
            </a:r>
          </a:p>
          <a:p>
            <a:pPr algn="just">
              <a:lnSpc>
                <a:spcPts val="2239"/>
              </a:lnSpc>
              <a:spcBef>
                <a:spcPct val="0"/>
              </a:spcBef>
            </a:pPr>
            <a:endParaRPr lang="en-US" sz="1599" dirty="0">
              <a:solidFill>
                <a:srgbClr val="FFFFFF"/>
              </a:solidFill>
              <a:latin typeface="Arial Nova"/>
              <a:ea typeface="Arial Nova"/>
              <a:cs typeface="Arial Nova"/>
              <a:sym typeface="Arial Nova"/>
            </a:endParaRPr>
          </a:p>
          <a:p>
            <a:pPr marL="345439" lvl="1" indent="-172720" algn="just">
              <a:lnSpc>
                <a:spcPts val="2239"/>
              </a:lnSpc>
              <a:spcBef>
                <a:spcPct val="0"/>
              </a:spcBef>
              <a:buFont typeface="Arial"/>
              <a:buChar char="•"/>
            </a:pPr>
            <a:r>
              <a:rPr lang="en-US" sz="1599" b="1" dirty="0">
                <a:solidFill>
                  <a:srgbClr val="FFFFFF"/>
                </a:solidFill>
                <a:latin typeface="Arial Nova Bold"/>
                <a:ea typeface="Arial Nova Bold"/>
                <a:cs typeface="Arial Nova Bold"/>
                <a:sym typeface="Arial Nova Bold"/>
              </a:rPr>
              <a:t>Future Outlook:</a:t>
            </a:r>
            <a:r>
              <a:rPr lang="en-US" sz="1599" dirty="0">
                <a:solidFill>
                  <a:srgbClr val="FFFFFF"/>
                </a:solidFill>
                <a:latin typeface="Arial Nova"/>
                <a:ea typeface="Arial Nova"/>
                <a:cs typeface="Arial Nova"/>
                <a:sym typeface="Arial Nova"/>
              </a:rPr>
              <a:t> Occupancy shows moderate growth with uncertainty, requiring proactive planning.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grpSp>
        <p:nvGrpSpPr>
          <p:cNvPr id="8" name="Group 8"/>
          <p:cNvGrpSpPr/>
          <p:nvPr/>
        </p:nvGrpSpPr>
        <p:grpSpPr>
          <a:xfrm>
            <a:off x="14140710" y="1945221"/>
            <a:ext cx="3704850" cy="7584935"/>
            <a:chOff x="0" y="0"/>
            <a:chExt cx="975763" cy="1997678"/>
          </a:xfrm>
        </p:grpSpPr>
        <p:sp>
          <p:nvSpPr>
            <p:cNvPr id="9" name="Freeform 9"/>
            <p:cNvSpPr/>
            <p:nvPr/>
          </p:nvSpPr>
          <p:spPr>
            <a:xfrm>
              <a:off x="0" y="0"/>
              <a:ext cx="975763" cy="1997678"/>
            </a:xfrm>
            <a:custGeom>
              <a:avLst/>
              <a:gdLst/>
              <a:ahLst/>
              <a:cxnLst/>
              <a:rect l="l" t="t" r="r" b="b"/>
              <a:pathLst>
                <a:path w="975763" h="1997678">
                  <a:moveTo>
                    <a:pt x="0" y="0"/>
                  </a:moveTo>
                  <a:lnTo>
                    <a:pt x="975763" y="0"/>
                  </a:lnTo>
                  <a:lnTo>
                    <a:pt x="975763" y="1997678"/>
                  </a:lnTo>
                  <a:lnTo>
                    <a:pt x="0" y="1997678"/>
                  </a:lnTo>
                  <a:close/>
                </a:path>
              </a:pathLst>
            </a:custGeom>
            <a:solidFill>
              <a:srgbClr val="036493"/>
            </a:solidFill>
          </p:spPr>
          <p:txBody>
            <a:bodyPr/>
            <a:lstStyle/>
            <a:p>
              <a:endParaRPr lang="en-IN"/>
            </a:p>
          </p:txBody>
        </p:sp>
        <p:sp>
          <p:nvSpPr>
            <p:cNvPr id="10" name="TextBox 10"/>
            <p:cNvSpPr txBox="1"/>
            <p:nvPr/>
          </p:nvSpPr>
          <p:spPr>
            <a:xfrm>
              <a:off x="0" y="-66675"/>
              <a:ext cx="975763" cy="2064353"/>
            </a:xfrm>
            <a:prstGeom prst="rect">
              <a:avLst/>
            </a:prstGeom>
          </p:spPr>
          <p:txBody>
            <a:bodyPr lIns="50800" tIns="50800" rIns="50800" bIns="50800" rtlCol="0" anchor="ctr"/>
            <a:lstStyle/>
            <a:p>
              <a:pPr algn="ctr">
                <a:lnSpc>
                  <a:spcPts val="3494"/>
                </a:lnSpc>
              </a:pPr>
              <a:endParaRPr/>
            </a:p>
          </p:txBody>
        </p:sp>
      </p:grpSp>
      <p:sp>
        <p:nvSpPr>
          <p:cNvPr id="11" name="Freeform 11"/>
          <p:cNvSpPr/>
          <p:nvPr/>
        </p:nvSpPr>
        <p:spPr>
          <a:xfrm>
            <a:off x="543236" y="1945221"/>
            <a:ext cx="13484329" cy="7584935"/>
          </a:xfrm>
          <a:custGeom>
            <a:avLst/>
            <a:gdLst/>
            <a:ahLst/>
            <a:cxnLst/>
            <a:rect l="l" t="t" r="r" b="b"/>
            <a:pathLst>
              <a:path w="13484329" h="7584935">
                <a:moveTo>
                  <a:pt x="0" y="0"/>
                </a:moveTo>
                <a:lnTo>
                  <a:pt x="13484329" y="0"/>
                </a:lnTo>
                <a:lnTo>
                  <a:pt x="13484329" y="7584935"/>
                </a:lnTo>
                <a:lnTo>
                  <a:pt x="0" y="7584935"/>
                </a:lnTo>
                <a:lnTo>
                  <a:pt x="0" y="0"/>
                </a:lnTo>
                <a:close/>
              </a:path>
            </a:pathLst>
          </a:custGeom>
          <a:blipFill>
            <a:blip r:embed="rId2"/>
            <a:stretch>
              <a:fillRect/>
            </a:stretch>
          </a:blipFill>
        </p:spPr>
        <p:txBody>
          <a:bodyPr/>
          <a:lstStyle/>
          <a:p>
            <a:endParaRPr lang="en-IN"/>
          </a:p>
        </p:txBody>
      </p:sp>
      <p:sp>
        <p:nvSpPr>
          <p:cNvPr id="12" name="TextBox 12"/>
          <p:cNvSpPr txBox="1"/>
          <p:nvPr/>
        </p:nvSpPr>
        <p:spPr>
          <a:xfrm>
            <a:off x="543236" y="323990"/>
            <a:ext cx="17201528" cy="854075"/>
          </a:xfrm>
          <a:prstGeom prst="rect">
            <a:avLst/>
          </a:prstGeom>
        </p:spPr>
        <p:txBody>
          <a:bodyPr lIns="0" tIns="0" rIns="0" bIns="0" rtlCol="0" anchor="t">
            <a:spAutoFit/>
          </a:bodyPr>
          <a:lstStyle/>
          <a:p>
            <a:pPr algn="ctr">
              <a:lnSpc>
                <a:spcPts val="7000"/>
              </a:lnSpc>
              <a:spcBef>
                <a:spcPct val="0"/>
              </a:spcBef>
            </a:pPr>
            <a:r>
              <a:rPr lang="en-US" sz="5000" b="1">
                <a:solidFill>
                  <a:srgbClr val="FFFFFF"/>
                </a:solidFill>
                <a:latin typeface="Arial Nova Bold"/>
                <a:ea typeface="Arial Nova Bold"/>
                <a:cs typeface="Arial Nova Bold"/>
                <a:sym typeface="Arial Nova Bold"/>
              </a:rPr>
              <a:t>REVENUE MANAGER DASHBOARD</a:t>
            </a:r>
          </a:p>
        </p:txBody>
      </p:sp>
      <p:sp>
        <p:nvSpPr>
          <p:cNvPr id="13" name="TextBox 13"/>
          <p:cNvSpPr txBox="1"/>
          <p:nvPr/>
        </p:nvSpPr>
        <p:spPr>
          <a:xfrm>
            <a:off x="543236" y="1139965"/>
            <a:ext cx="17201528" cy="692150"/>
          </a:xfrm>
          <a:prstGeom prst="rect">
            <a:avLst/>
          </a:prstGeom>
        </p:spPr>
        <p:txBody>
          <a:bodyPr lIns="0" tIns="0" rIns="0" bIns="0" rtlCol="0" anchor="t">
            <a:spAutoFit/>
          </a:bodyPr>
          <a:lstStyle/>
          <a:p>
            <a:pPr algn="l">
              <a:lnSpc>
                <a:spcPts val="2799"/>
              </a:lnSpc>
              <a:spcBef>
                <a:spcPct val="0"/>
              </a:spcBef>
            </a:pPr>
            <a:r>
              <a:rPr lang="en-US" sz="1999" b="1">
                <a:solidFill>
                  <a:srgbClr val="2EC4B6"/>
                </a:solidFill>
                <a:latin typeface="Arial Nova Bold"/>
                <a:ea typeface="Arial Nova Bold"/>
                <a:cs typeface="Arial Nova Bold"/>
                <a:sym typeface="Arial Nova Bold"/>
              </a:rPr>
              <a:t>This dashboard delivers actionable insights on pricing, channel mix, occupancy, booking behavior, and cancellations to support effective revenue optimization and demand management.</a:t>
            </a:r>
          </a:p>
        </p:txBody>
      </p:sp>
      <p:sp>
        <p:nvSpPr>
          <p:cNvPr id="14" name="TextBox 14"/>
          <p:cNvSpPr txBox="1"/>
          <p:nvPr/>
        </p:nvSpPr>
        <p:spPr>
          <a:xfrm>
            <a:off x="14241506" y="1928288"/>
            <a:ext cx="3503257" cy="7708072"/>
          </a:xfrm>
          <a:prstGeom prst="rect">
            <a:avLst/>
          </a:prstGeom>
        </p:spPr>
        <p:txBody>
          <a:bodyPr lIns="0" tIns="0" rIns="0" bIns="0" rtlCol="0" anchor="t">
            <a:spAutoFit/>
          </a:bodyPr>
          <a:lstStyle/>
          <a:p>
            <a:pPr algn="just">
              <a:lnSpc>
                <a:spcPts val="2659"/>
              </a:lnSpc>
            </a:pPr>
            <a:r>
              <a:rPr lang="en-US" sz="1899" dirty="0">
                <a:solidFill>
                  <a:srgbClr val="FFFFFF"/>
                </a:solidFill>
                <a:latin typeface="Arial Nova"/>
                <a:ea typeface="Arial Nova"/>
                <a:cs typeface="Arial Nova"/>
                <a:sym typeface="Arial Nova"/>
              </a:rPr>
              <a:t>   </a:t>
            </a:r>
            <a:r>
              <a:rPr lang="en-US" sz="1900" b="1" dirty="0">
                <a:solidFill>
                  <a:srgbClr val="FF914D"/>
                </a:solidFill>
                <a:latin typeface="Arial Nova Bold"/>
                <a:ea typeface="Arial Nova Bold"/>
                <a:cs typeface="Arial Nova Bold"/>
                <a:sym typeface="Arial Nova Bold"/>
              </a:rPr>
              <a:t>Key Insights:</a:t>
            </a:r>
          </a:p>
          <a:p>
            <a:pPr marL="367031" lvl="1" indent="-183515" algn="just">
              <a:lnSpc>
                <a:spcPts val="2380"/>
              </a:lnSpc>
              <a:buFont typeface="Arial"/>
              <a:buChar char="•"/>
            </a:pPr>
            <a:r>
              <a:rPr lang="en-US" sz="1750" b="1" dirty="0">
                <a:solidFill>
                  <a:srgbClr val="FFFFFF"/>
                </a:solidFill>
                <a:latin typeface="Arial Nova Bold"/>
                <a:ea typeface="Arial Nova Bold"/>
                <a:cs typeface="Arial Nova Bold"/>
                <a:sym typeface="Arial Nova Bold"/>
              </a:rPr>
              <a:t>Pricing:</a:t>
            </a:r>
            <a:r>
              <a:rPr lang="en-US" sz="1750" dirty="0">
                <a:solidFill>
                  <a:srgbClr val="FFFFFF"/>
                </a:solidFill>
                <a:latin typeface="Arial Nova"/>
                <a:ea typeface="Arial Nova"/>
                <a:cs typeface="Arial Nova"/>
                <a:sym typeface="Arial Nova"/>
              </a:rPr>
              <a:t> ADR ₹5,953 and RevPAR ₹3,896 show healthy pricing with yield improvement potential.</a:t>
            </a:r>
          </a:p>
          <a:p>
            <a:pPr algn="just">
              <a:lnSpc>
                <a:spcPts val="2380"/>
              </a:lnSpc>
            </a:pPr>
            <a:endParaRPr lang="en-US" sz="1750" dirty="0">
              <a:solidFill>
                <a:srgbClr val="FFFFFF"/>
              </a:solidFill>
              <a:latin typeface="Arial Nova"/>
              <a:ea typeface="Arial Nova"/>
              <a:cs typeface="Arial Nova"/>
              <a:sym typeface="Arial Nova"/>
            </a:endParaRPr>
          </a:p>
          <a:p>
            <a:pPr marL="367031" lvl="1" indent="-183515" algn="just">
              <a:lnSpc>
                <a:spcPts val="2380"/>
              </a:lnSpc>
              <a:buFont typeface="Arial"/>
              <a:buChar char="•"/>
            </a:pPr>
            <a:r>
              <a:rPr lang="en-US" sz="1750" b="1" dirty="0">
                <a:solidFill>
                  <a:srgbClr val="FFFFFF"/>
                </a:solidFill>
                <a:latin typeface="Arial Nova Bold"/>
                <a:ea typeface="Arial Nova Bold"/>
                <a:cs typeface="Arial Nova Bold"/>
                <a:sym typeface="Arial Nova Bold"/>
              </a:rPr>
              <a:t>Occupancy:</a:t>
            </a:r>
            <a:r>
              <a:rPr lang="en-US" sz="1750" dirty="0">
                <a:solidFill>
                  <a:srgbClr val="FFFFFF"/>
                </a:solidFill>
                <a:latin typeface="Arial Nova"/>
                <a:ea typeface="Arial Nova"/>
                <a:cs typeface="Arial Nova"/>
                <a:sym typeface="Arial Nova"/>
              </a:rPr>
              <a:t> 65.57% occupancy and 3.23 nights indicate stable demand.</a:t>
            </a:r>
          </a:p>
          <a:p>
            <a:pPr algn="just">
              <a:lnSpc>
                <a:spcPts val="2380"/>
              </a:lnSpc>
            </a:pPr>
            <a:endParaRPr lang="en-US" sz="1750" dirty="0">
              <a:solidFill>
                <a:srgbClr val="FFFFFF"/>
              </a:solidFill>
              <a:latin typeface="Arial Nova"/>
              <a:ea typeface="Arial Nova"/>
              <a:cs typeface="Arial Nova"/>
              <a:sym typeface="Arial Nova"/>
            </a:endParaRPr>
          </a:p>
          <a:p>
            <a:pPr marL="367031" lvl="1" indent="-183515" algn="just">
              <a:lnSpc>
                <a:spcPts val="2380"/>
              </a:lnSpc>
              <a:buFont typeface="Arial"/>
              <a:buChar char="•"/>
            </a:pPr>
            <a:r>
              <a:rPr lang="en-US" sz="1750" b="1" dirty="0">
                <a:solidFill>
                  <a:srgbClr val="FFFFFF"/>
                </a:solidFill>
                <a:latin typeface="Arial Nova Bold"/>
                <a:ea typeface="Arial Nova Bold"/>
                <a:cs typeface="Arial Nova Bold"/>
                <a:sym typeface="Arial Nova Bold"/>
              </a:rPr>
              <a:t>Channels:</a:t>
            </a:r>
            <a:r>
              <a:rPr lang="en-US" sz="1750" dirty="0">
                <a:solidFill>
                  <a:srgbClr val="FFFFFF"/>
                </a:solidFill>
                <a:latin typeface="Arial Nova"/>
                <a:ea typeface="Arial Nova"/>
                <a:cs typeface="Arial Nova"/>
                <a:sym typeface="Arial Nova"/>
              </a:rPr>
              <a:t> Website and Mobile App lead revenue, reducing commission costs.</a:t>
            </a:r>
          </a:p>
          <a:p>
            <a:pPr algn="just">
              <a:lnSpc>
                <a:spcPts val="2380"/>
              </a:lnSpc>
            </a:pPr>
            <a:endParaRPr lang="en-US" sz="1750" dirty="0">
              <a:solidFill>
                <a:srgbClr val="FFFFFF"/>
              </a:solidFill>
              <a:latin typeface="Arial Nova"/>
              <a:ea typeface="Arial Nova"/>
              <a:cs typeface="Arial Nova"/>
              <a:sym typeface="Arial Nova"/>
            </a:endParaRPr>
          </a:p>
          <a:p>
            <a:pPr marL="367031" lvl="1" indent="-183515" algn="just">
              <a:lnSpc>
                <a:spcPts val="2380"/>
              </a:lnSpc>
              <a:buFont typeface="Arial"/>
              <a:buChar char="•"/>
            </a:pPr>
            <a:r>
              <a:rPr lang="en-US" sz="1750" b="1" dirty="0">
                <a:solidFill>
                  <a:srgbClr val="FFFFFF"/>
                </a:solidFill>
                <a:latin typeface="Arial Nova Bold"/>
                <a:ea typeface="Arial Nova Bold"/>
                <a:cs typeface="Arial Nova Bold"/>
                <a:sym typeface="Arial Nova Bold"/>
              </a:rPr>
              <a:t>Segments:</a:t>
            </a:r>
            <a:r>
              <a:rPr lang="en-US" sz="1750" dirty="0">
                <a:solidFill>
                  <a:srgbClr val="FFFFFF"/>
                </a:solidFill>
                <a:latin typeface="Arial Nova"/>
                <a:ea typeface="Arial Nova"/>
                <a:cs typeface="Arial Nova"/>
                <a:sym typeface="Arial Nova"/>
              </a:rPr>
              <a:t> Solo and Business guests are the top revenue contributors.</a:t>
            </a:r>
          </a:p>
          <a:p>
            <a:pPr algn="just">
              <a:lnSpc>
                <a:spcPts val="2380"/>
              </a:lnSpc>
            </a:pPr>
            <a:endParaRPr lang="en-US" sz="1750" dirty="0">
              <a:solidFill>
                <a:srgbClr val="FFFFFF"/>
              </a:solidFill>
              <a:latin typeface="Arial Nova"/>
              <a:ea typeface="Arial Nova"/>
              <a:cs typeface="Arial Nova"/>
              <a:sym typeface="Arial Nova"/>
            </a:endParaRPr>
          </a:p>
          <a:p>
            <a:pPr marL="367031" lvl="1" indent="-183515" algn="just">
              <a:lnSpc>
                <a:spcPts val="2380"/>
              </a:lnSpc>
              <a:buFont typeface="Arial"/>
              <a:buChar char="•"/>
            </a:pPr>
            <a:r>
              <a:rPr lang="en-US" sz="1750" b="1" dirty="0">
                <a:solidFill>
                  <a:srgbClr val="FFFFFF"/>
                </a:solidFill>
                <a:latin typeface="Arial Nova Bold"/>
                <a:ea typeface="Arial Nova Bold"/>
                <a:cs typeface="Arial Nova Bold"/>
                <a:sym typeface="Arial Nova Bold"/>
              </a:rPr>
              <a:t>Bookings:</a:t>
            </a:r>
            <a:r>
              <a:rPr lang="en-US" sz="1750" dirty="0">
                <a:solidFill>
                  <a:srgbClr val="FFFFFF"/>
                </a:solidFill>
                <a:latin typeface="Arial Nova"/>
                <a:ea typeface="Arial Nova"/>
                <a:cs typeface="Arial Nova"/>
                <a:sym typeface="Arial Nova"/>
              </a:rPr>
              <a:t> Steady booking trends with clear seasonal peaks.</a:t>
            </a:r>
          </a:p>
          <a:p>
            <a:pPr algn="just">
              <a:lnSpc>
                <a:spcPts val="2380"/>
              </a:lnSpc>
            </a:pPr>
            <a:endParaRPr lang="en-US" sz="1750" dirty="0">
              <a:solidFill>
                <a:srgbClr val="FFFFFF"/>
              </a:solidFill>
              <a:latin typeface="Arial Nova"/>
              <a:ea typeface="Arial Nova"/>
              <a:cs typeface="Arial Nova"/>
              <a:sym typeface="Arial Nova"/>
            </a:endParaRPr>
          </a:p>
          <a:p>
            <a:pPr marL="367031" lvl="1" indent="-183515" algn="just">
              <a:lnSpc>
                <a:spcPts val="2380"/>
              </a:lnSpc>
              <a:buFont typeface="Arial"/>
              <a:buChar char="•"/>
            </a:pPr>
            <a:r>
              <a:rPr lang="en-US" sz="1750" b="1" dirty="0">
                <a:solidFill>
                  <a:srgbClr val="FFFFFF"/>
                </a:solidFill>
                <a:latin typeface="Arial Nova Bold"/>
                <a:ea typeface="Arial Nova Bold"/>
                <a:cs typeface="Arial Nova Bold"/>
                <a:sym typeface="Arial Nova Bold"/>
              </a:rPr>
              <a:t>Cancellations:</a:t>
            </a:r>
            <a:r>
              <a:rPr lang="en-US" sz="1750" dirty="0">
                <a:solidFill>
                  <a:srgbClr val="FFFFFF"/>
                </a:solidFill>
                <a:latin typeface="Arial Nova"/>
                <a:ea typeface="Arial Nova"/>
                <a:cs typeface="Arial Nova"/>
                <a:sym typeface="Arial Nova"/>
              </a:rPr>
              <a:t> 15.12% cancellation rate signals revenue leakage risk.</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4C71"/>
        </a:solidFill>
        <a:effectLst/>
      </p:bgPr>
    </p:bg>
    <p:spTree>
      <p:nvGrpSpPr>
        <p:cNvPr id="1" name=""/>
        <p:cNvGrpSpPr/>
        <p:nvPr/>
      </p:nvGrpSpPr>
      <p:grpSpPr>
        <a:xfrm>
          <a:off x="0" y="0"/>
          <a:ext cx="0" cy="0"/>
          <a:chOff x="0" y="0"/>
          <a:chExt cx="0" cy="0"/>
        </a:xfrm>
      </p:grpSpPr>
      <p:grpSp>
        <p:nvGrpSpPr>
          <p:cNvPr id="2" name="Group 2"/>
          <p:cNvGrpSpPr/>
          <p:nvPr/>
        </p:nvGrpSpPr>
        <p:grpSpPr>
          <a:xfrm>
            <a:off x="-650301" y="9900339"/>
            <a:ext cx="19554463" cy="1066796"/>
            <a:chOff x="0" y="0"/>
            <a:chExt cx="5150147" cy="280967"/>
          </a:xfrm>
        </p:grpSpPr>
        <p:sp>
          <p:nvSpPr>
            <p:cNvPr id="3" name="Freeform 3"/>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4" name="TextBox 4"/>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5" name="Group 5"/>
          <p:cNvGrpSpPr/>
          <p:nvPr/>
        </p:nvGrpSpPr>
        <p:grpSpPr>
          <a:xfrm>
            <a:off x="16476461" y="9753386"/>
            <a:ext cx="650352" cy="533614"/>
            <a:chOff x="0" y="0"/>
            <a:chExt cx="171286" cy="140540"/>
          </a:xfrm>
        </p:grpSpPr>
        <p:sp>
          <p:nvSpPr>
            <p:cNvPr id="6" name="Freeform 6"/>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7" name="TextBox 7"/>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grpSp>
        <p:nvGrpSpPr>
          <p:cNvPr id="8" name="Group 8"/>
          <p:cNvGrpSpPr/>
          <p:nvPr/>
        </p:nvGrpSpPr>
        <p:grpSpPr>
          <a:xfrm>
            <a:off x="684349" y="2242003"/>
            <a:ext cx="16999814" cy="7129258"/>
            <a:chOff x="0" y="0"/>
            <a:chExt cx="4477317" cy="1877665"/>
          </a:xfrm>
        </p:grpSpPr>
        <p:sp>
          <p:nvSpPr>
            <p:cNvPr id="9" name="Freeform 9"/>
            <p:cNvSpPr/>
            <p:nvPr/>
          </p:nvSpPr>
          <p:spPr>
            <a:xfrm>
              <a:off x="0" y="0"/>
              <a:ext cx="4477317" cy="1877665"/>
            </a:xfrm>
            <a:custGeom>
              <a:avLst/>
              <a:gdLst/>
              <a:ahLst/>
              <a:cxnLst/>
              <a:rect l="l" t="t" r="r" b="b"/>
              <a:pathLst>
                <a:path w="4477317" h="1877665">
                  <a:moveTo>
                    <a:pt x="0" y="0"/>
                  </a:moveTo>
                  <a:lnTo>
                    <a:pt x="4477317" y="0"/>
                  </a:lnTo>
                  <a:lnTo>
                    <a:pt x="4477317" y="1877665"/>
                  </a:lnTo>
                  <a:lnTo>
                    <a:pt x="0" y="1877665"/>
                  </a:lnTo>
                  <a:close/>
                </a:path>
              </a:pathLst>
            </a:custGeom>
            <a:solidFill>
              <a:srgbClr val="036493"/>
            </a:solidFill>
          </p:spPr>
          <p:txBody>
            <a:bodyPr/>
            <a:lstStyle/>
            <a:p>
              <a:endParaRPr lang="en-IN"/>
            </a:p>
          </p:txBody>
        </p:sp>
        <p:sp>
          <p:nvSpPr>
            <p:cNvPr id="10" name="TextBox 10"/>
            <p:cNvSpPr txBox="1"/>
            <p:nvPr/>
          </p:nvSpPr>
          <p:spPr>
            <a:xfrm>
              <a:off x="0" y="-66675"/>
              <a:ext cx="4477317" cy="1944340"/>
            </a:xfrm>
            <a:prstGeom prst="rect">
              <a:avLst/>
            </a:prstGeom>
          </p:spPr>
          <p:txBody>
            <a:bodyPr lIns="50800" tIns="50800" rIns="50800" bIns="50800" rtlCol="0" anchor="ctr"/>
            <a:lstStyle/>
            <a:p>
              <a:pPr algn="ctr">
                <a:lnSpc>
                  <a:spcPts val="3494"/>
                </a:lnSpc>
              </a:pPr>
              <a:endParaRPr/>
            </a:p>
          </p:txBody>
        </p:sp>
      </p:grpSp>
      <p:sp>
        <p:nvSpPr>
          <p:cNvPr id="11" name="TextBox 11"/>
          <p:cNvSpPr txBox="1"/>
          <p:nvPr/>
        </p:nvSpPr>
        <p:spPr>
          <a:xfrm>
            <a:off x="887819" y="2568152"/>
            <a:ext cx="16592874" cy="6391275"/>
          </a:xfrm>
          <a:prstGeom prst="rect">
            <a:avLst/>
          </a:prstGeom>
        </p:spPr>
        <p:txBody>
          <a:bodyPr lIns="0" tIns="0" rIns="0" bIns="0" rtlCol="0" anchor="t">
            <a:spAutoFit/>
          </a:bodyPr>
          <a:lstStyle/>
          <a:p>
            <a:pPr marL="647702" lvl="1" indent="-323851" algn="just">
              <a:lnSpc>
                <a:spcPts val="4200"/>
              </a:lnSpc>
              <a:buFont typeface="Arial"/>
              <a:buChar char="•"/>
            </a:pPr>
            <a:r>
              <a:rPr lang="en-US" sz="3000" b="1" dirty="0">
                <a:solidFill>
                  <a:srgbClr val="FFFFFF"/>
                </a:solidFill>
                <a:latin typeface="Arial Nova Bold"/>
                <a:ea typeface="Arial Nova Bold"/>
                <a:cs typeface="Arial Nova Bold"/>
                <a:sym typeface="Arial Nova Bold"/>
              </a:rPr>
              <a:t>Unified Data Foundation:</a:t>
            </a:r>
            <a:r>
              <a:rPr lang="en-US" sz="3000" dirty="0">
                <a:solidFill>
                  <a:srgbClr val="FFFFFF"/>
                </a:solidFill>
                <a:latin typeface="Arial Nova"/>
                <a:ea typeface="Arial Nova"/>
                <a:cs typeface="Arial Nova"/>
                <a:sym typeface="Arial Nova"/>
              </a:rPr>
              <a:t> Successfully transformed raw booking and room data into a robust Star Schema, enabling accurate, real-time performance tracking.</a:t>
            </a:r>
          </a:p>
          <a:p>
            <a:pPr algn="just">
              <a:lnSpc>
                <a:spcPts val="4200"/>
              </a:lnSpc>
            </a:pPr>
            <a:endParaRPr lang="en-US" sz="3000" dirty="0">
              <a:solidFill>
                <a:srgbClr val="FFFFFF"/>
              </a:solidFill>
              <a:latin typeface="Arial Nova"/>
              <a:ea typeface="Arial Nova"/>
              <a:cs typeface="Arial Nova"/>
              <a:sym typeface="Arial Nova"/>
            </a:endParaRPr>
          </a:p>
          <a:p>
            <a:pPr marL="647702" lvl="1" indent="-323851" algn="just">
              <a:lnSpc>
                <a:spcPts val="4200"/>
              </a:lnSpc>
              <a:buFont typeface="Arial"/>
              <a:buChar char="•"/>
            </a:pPr>
            <a:r>
              <a:rPr lang="en-US" sz="3000" b="1" dirty="0">
                <a:solidFill>
                  <a:srgbClr val="FFFFFF"/>
                </a:solidFill>
                <a:latin typeface="Arial Nova Bold"/>
                <a:ea typeface="Arial Nova Bold"/>
                <a:cs typeface="Arial Nova Bold"/>
                <a:sym typeface="Arial Nova Bold"/>
              </a:rPr>
              <a:t>360° Operational Insight:</a:t>
            </a:r>
            <a:r>
              <a:rPr lang="en-US" sz="3000" dirty="0">
                <a:solidFill>
                  <a:srgbClr val="FFFFFF"/>
                </a:solidFill>
                <a:latin typeface="Arial Nova"/>
                <a:ea typeface="Arial Nova"/>
                <a:cs typeface="Arial Nova"/>
                <a:sym typeface="Arial Nova"/>
              </a:rPr>
              <a:t> Established critical KPIs (Occupancy, ADR, RevPAR) and deep Guest Segmentation to pinpoint high-value customer groups and peak seasons.</a:t>
            </a:r>
          </a:p>
          <a:p>
            <a:pPr algn="just">
              <a:lnSpc>
                <a:spcPts val="4200"/>
              </a:lnSpc>
            </a:pPr>
            <a:endParaRPr lang="en-US" sz="3000" dirty="0">
              <a:solidFill>
                <a:srgbClr val="FFFFFF"/>
              </a:solidFill>
              <a:latin typeface="Arial Nova"/>
              <a:ea typeface="Arial Nova"/>
              <a:cs typeface="Arial Nova"/>
              <a:sym typeface="Arial Nova"/>
            </a:endParaRPr>
          </a:p>
          <a:p>
            <a:pPr marL="647702" lvl="1" indent="-323851" algn="just">
              <a:lnSpc>
                <a:spcPts val="4200"/>
              </a:lnSpc>
              <a:buFont typeface="Arial"/>
              <a:buChar char="•"/>
            </a:pPr>
            <a:r>
              <a:rPr lang="en-US" sz="3000" b="1" dirty="0">
                <a:solidFill>
                  <a:srgbClr val="FFFFFF"/>
                </a:solidFill>
                <a:latin typeface="Arial Nova Bold"/>
                <a:ea typeface="Arial Nova Bold"/>
                <a:cs typeface="Arial Nova Bold"/>
                <a:sym typeface="Arial Nova Bold"/>
              </a:rPr>
              <a:t>Predictive Capability:</a:t>
            </a:r>
            <a:r>
              <a:rPr lang="en-US" sz="3000" dirty="0">
                <a:solidFill>
                  <a:srgbClr val="FFFFFF"/>
                </a:solidFill>
                <a:latin typeface="Arial Nova"/>
                <a:ea typeface="Arial Nova"/>
                <a:cs typeface="Arial Nova"/>
                <a:sym typeface="Arial Nova"/>
              </a:rPr>
              <a:t> Implemented forecasting models to anticipate demand trends and mitigate revenue loss from cancellations and no-shows.</a:t>
            </a:r>
          </a:p>
          <a:p>
            <a:pPr algn="just">
              <a:lnSpc>
                <a:spcPts val="4200"/>
              </a:lnSpc>
            </a:pPr>
            <a:endParaRPr lang="en-US" sz="3000" dirty="0">
              <a:solidFill>
                <a:srgbClr val="FFFFFF"/>
              </a:solidFill>
              <a:latin typeface="Arial Nova"/>
              <a:ea typeface="Arial Nova"/>
              <a:cs typeface="Arial Nova"/>
              <a:sym typeface="Arial Nova"/>
            </a:endParaRPr>
          </a:p>
          <a:p>
            <a:pPr marL="647702" lvl="1" indent="-323851" algn="just">
              <a:lnSpc>
                <a:spcPts val="4200"/>
              </a:lnSpc>
              <a:buFont typeface="Arial"/>
              <a:buChar char="•"/>
            </a:pPr>
            <a:r>
              <a:rPr lang="en-US" sz="3000" b="1" dirty="0">
                <a:solidFill>
                  <a:srgbClr val="FFFFFF"/>
                </a:solidFill>
                <a:latin typeface="Arial Nova Bold"/>
                <a:ea typeface="Arial Nova Bold"/>
                <a:cs typeface="Arial Nova Bold"/>
                <a:sym typeface="Arial Nova Bold"/>
              </a:rPr>
              <a:t>Actionable Revenue Strategy:</a:t>
            </a:r>
            <a:r>
              <a:rPr lang="en-US" sz="3000" dirty="0">
                <a:solidFill>
                  <a:srgbClr val="FFFFFF"/>
                </a:solidFill>
                <a:latin typeface="Arial Nova"/>
                <a:ea typeface="Arial Nova"/>
                <a:cs typeface="Arial Nova"/>
                <a:sym typeface="Arial Nova"/>
              </a:rPr>
              <a:t> Delivered a comprehensive dashboard empowering managers to drive growth through dynamic pricing, targeted upselling, and data-</a:t>
            </a:r>
          </a:p>
          <a:p>
            <a:pPr algn="just">
              <a:lnSpc>
                <a:spcPts val="4200"/>
              </a:lnSpc>
            </a:pPr>
            <a:r>
              <a:rPr lang="en-US" sz="3000" dirty="0">
                <a:solidFill>
                  <a:srgbClr val="FFFFFF"/>
                </a:solidFill>
                <a:latin typeface="Arial Nova"/>
                <a:ea typeface="Arial Nova"/>
                <a:cs typeface="Arial Nova"/>
                <a:sym typeface="Arial Nova"/>
              </a:rPr>
              <a:t>      driven decision-making.</a:t>
            </a:r>
          </a:p>
        </p:txBody>
      </p:sp>
      <p:sp>
        <p:nvSpPr>
          <p:cNvPr id="12" name="TextBox 12"/>
          <p:cNvSpPr txBox="1"/>
          <p:nvPr/>
        </p:nvSpPr>
        <p:spPr>
          <a:xfrm>
            <a:off x="684349" y="208269"/>
            <a:ext cx="16999814" cy="1038225"/>
          </a:xfrm>
          <a:prstGeom prst="rect">
            <a:avLst/>
          </a:prstGeom>
        </p:spPr>
        <p:txBody>
          <a:bodyPr lIns="0" tIns="0" rIns="0" bIns="0" rtlCol="0" anchor="t">
            <a:spAutoFit/>
          </a:bodyPr>
          <a:lstStyle/>
          <a:p>
            <a:pPr algn="ctr">
              <a:lnSpc>
                <a:spcPts val="8400"/>
              </a:lnSpc>
            </a:pPr>
            <a:r>
              <a:rPr lang="en-US" sz="6000" b="1">
                <a:solidFill>
                  <a:srgbClr val="FFFFFF"/>
                </a:solidFill>
                <a:latin typeface="Arial Nova Bold"/>
                <a:ea typeface="Arial Nova Bold"/>
                <a:cs typeface="Arial Nova Bold"/>
                <a:sym typeface="Arial Nova Bold"/>
              </a:rPr>
              <a:t>CONCLUSION</a:t>
            </a:r>
          </a:p>
        </p:txBody>
      </p:sp>
      <p:sp>
        <p:nvSpPr>
          <p:cNvPr id="13" name="TextBox 13"/>
          <p:cNvSpPr txBox="1"/>
          <p:nvPr/>
        </p:nvSpPr>
        <p:spPr>
          <a:xfrm>
            <a:off x="684349" y="1404206"/>
            <a:ext cx="16999814" cy="613410"/>
          </a:xfrm>
          <a:prstGeom prst="rect">
            <a:avLst/>
          </a:prstGeom>
        </p:spPr>
        <p:txBody>
          <a:bodyPr lIns="0" tIns="0" rIns="0" bIns="0" rtlCol="0" anchor="t">
            <a:spAutoFit/>
          </a:bodyPr>
          <a:lstStyle/>
          <a:p>
            <a:pPr algn="l">
              <a:lnSpc>
                <a:spcPts val="5040"/>
              </a:lnSpc>
            </a:pPr>
            <a:r>
              <a:rPr lang="en-US" sz="3600" b="1">
                <a:solidFill>
                  <a:srgbClr val="FF914D"/>
                </a:solidFill>
                <a:latin typeface="Arial Nova Bold"/>
                <a:ea typeface="Arial Nova Bold"/>
                <a:cs typeface="Arial Nova Bold"/>
                <a:sym typeface="Arial Nova Bold"/>
              </a:rPr>
              <a:t>Summary &amp; Final Thoughts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888" b="-8888"/>
            </a:stretch>
          </a:blipFill>
        </p:spPr>
        <p:txBody>
          <a:bodyPr/>
          <a:lstStyle/>
          <a:p>
            <a:endParaRPr lang="en-IN"/>
          </a:p>
        </p:txBody>
      </p:sp>
      <p:grpSp>
        <p:nvGrpSpPr>
          <p:cNvPr id="3" name="Group 3"/>
          <p:cNvGrpSpPr/>
          <p:nvPr/>
        </p:nvGrpSpPr>
        <p:grpSpPr>
          <a:xfrm>
            <a:off x="-650301" y="9900339"/>
            <a:ext cx="19554463" cy="1066796"/>
            <a:chOff x="0" y="0"/>
            <a:chExt cx="5150147" cy="280967"/>
          </a:xfrm>
        </p:grpSpPr>
        <p:sp>
          <p:nvSpPr>
            <p:cNvPr id="4" name="Freeform 4"/>
            <p:cNvSpPr/>
            <p:nvPr/>
          </p:nvSpPr>
          <p:spPr>
            <a:xfrm>
              <a:off x="0" y="0"/>
              <a:ext cx="5150146" cy="280967"/>
            </a:xfrm>
            <a:custGeom>
              <a:avLst/>
              <a:gdLst/>
              <a:ahLst/>
              <a:cxnLst/>
              <a:rect l="l" t="t" r="r" b="b"/>
              <a:pathLst>
                <a:path w="5150146" h="280967">
                  <a:moveTo>
                    <a:pt x="0" y="0"/>
                  </a:moveTo>
                  <a:lnTo>
                    <a:pt x="5150146" y="0"/>
                  </a:lnTo>
                  <a:lnTo>
                    <a:pt x="5150146" y="280967"/>
                  </a:lnTo>
                  <a:lnTo>
                    <a:pt x="0" y="280967"/>
                  </a:lnTo>
                  <a:close/>
                </a:path>
              </a:pathLst>
            </a:custGeom>
            <a:solidFill>
              <a:srgbClr val="FFFFFF"/>
            </a:solidFill>
          </p:spPr>
          <p:txBody>
            <a:bodyPr/>
            <a:lstStyle/>
            <a:p>
              <a:endParaRPr lang="en-IN"/>
            </a:p>
          </p:txBody>
        </p:sp>
        <p:sp>
          <p:nvSpPr>
            <p:cNvPr id="5" name="TextBox 5"/>
            <p:cNvSpPr txBox="1"/>
            <p:nvPr/>
          </p:nvSpPr>
          <p:spPr>
            <a:xfrm>
              <a:off x="0" y="-66675"/>
              <a:ext cx="5150147" cy="347642"/>
            </a:xfrm>
            <a:prstGeom prst="rect">
              <a:avLst/>
            </a:prstGeom>
          </p:spPr>
          <p:txBody>
            <a:bodyPr lIns="50800" tIns="50800" rIns="50800" bIns="50800" rtlCol="0" anchor="ctr"/>
            <a:lstStyle/>
            <a:p>
              <a:pPr algn="ctr">
                <a:lnSpc>
                  <a:spcPts val="3494"/>
                </a:lnSpc>
              </a:pPr>
              <a:endParaRPr/>
            </a:p>
          </p:txBody>
        </p:sp>
      </p:grpSp>
      <p:grpSp>
        <p:nvGrpSpPr>
          <p:cNvPr id="6" name="Group 6"/>
          <p:cNvGrpSpPr/>
          <p:nvPr/>
        </p:nvGrpSpPr>
        <p:grpSpPr>
          <a:xfrm>
            <a:off x="16476461" y="9753386"/>
            <a:ext cx="650352" cy="533614"/>
            <a:chOff x="0" y="0"/>
            <a:chExt cx="171286" cy="140540"/>
          </a:xfrm>
        </p:grpSpPr>
        <p:sp>
          <p:nvSpPr>
            <p:cNvPr id="7" name="Freeform 7"/>
            <p:cNvSpPr/>
            <p:nvPr/>
          </p:nvSpPr>
          <p:spPr>
            <a:xfrm>
              <a:off x="0" y="0"/>
              <a:ext cx="171286" cy="140540"/>
            </a:xfrm>
            <a:custGeom>
              <a:avLst/>
              <a:gdLst/>
              <a:ahLst/>
              <a:cxnLst/>
              <a:rect l="l" t="t" r="r" b="b"/>
              <a:pathLst>
                <a:path w="171286" h="140540">
                  <a:moveTo>
                    <a:pt x="0" y="0"/>
                  </a:moveTo>
                  <a:lnTo>
                    <a:pt x="171286" y="0"/>
                  </a:lnTo>
                  <a:lnTo>
                    <a:pt x="171286" y="140540"/>
                  </a:lnTo>
                  <a:lnTo>
                    <a:pt x="0" y="140540"/>
                  </a:lnTo>
                  <a:close/>
                </a:path>
              </a:pathLst>
            </a:custGeom>
            <a:solidFill>
              <a:srgbClr val="FF914D"/>
            </a:solidFill>
          </p:spPr>
          <p:txBody>
            <a:bodyPr/>
            <a:lstStyle/>
            <a:p>
              <a:endParaRPr lang="en-IN"/>
            </a:p>
          </p:txBody>
        </p:sp>
        <p:sp>
          <p:nvSpPr>
            <p:cNvPr id="8" name="TextBox 8"/>
            <p:cNvSpPr txBox="1"/>
            <p:nvPr/>
          </p:nvSpPr>
          <p:spPr>
            <a:xfrm>
              <a:off x="0" y="-66675"/>
              <a:ext cx="171286" cy="207215"/>
            </a:xfrm>
            <a:prstGeom prst="rect">
              <a:avLst/>
            </a:prstGeom>
          </p:spPr>
          <p:txBody>
            <a:bodyPr lIns="50800" tIns="50800" rIns="50800" bIns="50800" rtlCol="0" anchor="ctr"/>
            <a:lstStyle/>
            <a:p>
              <a:pPr algn="ctr">
                <a:lnSpc>
                  <a:spcPts val="3494"/>
                </a:lnSpc>
              </a:pPr>
              <a:endParaRPr/>
            </a:p>
          </p:txBody>
        </p:sp>
      </p:grpSp>
      <p:sp>
        <p:nvSpPr>
          <p:cNvPr id="9" name="TextBox 9"/>
          <p:cNvSpPr txBox="1"/>
          <p:nvPr/>
        </p:nvSpPr>
        <p:spPr>
          <a:xfrm>
            <a:off x="1471693" y="3240092"/>
            <a:ext cx="15344613" cy="3425817"/>
          </a:xfrm>
          <a:prstGeom prst="rect">
            <a:avLst/>
          </a:prstGeom>
        </p:spPr>
        <p:txBody>
          <a:bodyPr lIns="0" tIns="0" rIns="0" bIns="0" rtlCol="0" anchor="t">
            <a:spAutoFit/>
          </a:bodyPr>
          <a:lstStyle/>
          <a:p>
            <a:pPr algn="ctr">
              <a:lnSpc>
                <a:spcPts val="28000"/>
              </a:lnSpc>
            </a:pPr>
            <a:r>
              <a:rPr lang="en-US" sz="20000" b="1">
                <a:solidFill>
                  <a:srgbClr val="FFFFFF"/>
                </a:solidFill>
                <a:latin typeface="Arial Nova Bold"/>
                <a:ea typeface="Arial Nova Bold"/>
                <a:cs typeface="Arial Nova Bold"/>
                <a:sym typeface="Arial Nova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TotalTime>
  <Words>1888</Words>
  <Application>Microsoft Office PowerPoint</Application>
  <PresentationFormat>Custom</PresentationFormat>
  <Paragraphs>235</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 Nova Bold Italics</vt:lpstr>
      <vt:lpstr>Arial</vt:lpstr>
      <vt:lpstr>Calibri</vt:lpstr>
      <vt:lpstr>Poppins Bold</vt:lpstr>
      <vt:lpstr>Arial Nova Bold</vt:lpstr>
      <vt:lpstr>Arial Nova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Batch 1</dc:title>
  <dc:creator>sahithi akula</dc:creator>
  <cp:lastModifiedBy>23-24_M.Sc._DS_Part-1_ADITYA GADILKAR</cp:lastModifiedBy>
  <cp:revision>3</cp:revision>
  <dcterms:created xsi:type="dcterms:W3CDTF">2006-08-16T00:00:00Z</dcterms:created>
  <dcterms:modified xsi:type="dcterms:W3CDTF">2025-12-18T07:34:13Z</dcterms:modified>
  <dc:identifier>DAG7aCrAiQU</dc:identifier>
</cp:coreProperties>
</file>